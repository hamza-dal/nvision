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5" r:id="rId3"/>
    <p:sldId id="267" r:id="rId4"/>
    <p:sldId id="268" r:id="rId5"/>
    <p:sldId id="269" r:id="rId6"/>
    <p:sldId id="270" r:id="rId7"/>
    <p:sldId id="257" r:id="rId8"/>
    <p:sldId id="258" r:id="rId9"/>
    <p:sldId id="259" r:id="rId10"/>
    <p:sldId id="271" r:id="rId11"/>
    <p:sldId id="274" r:id="rId12"/>
    <p:sldId id="275" r:id="rId13"/>
    <p:sldId id="260" r:id="rId14"/>
    <p:sldId id="273" r:id="rId15"/>
    <p:sldId id="261" r:id="rId16"/>
    <p:sldId id="272" r:id="rId17"/>
    <p:sldId id="262" r:id="rId18"/>
    <p:sldId id="276" r:id="rId19"/>
    <p:sldId id="264" r:id="rId20"/>
    <p:sldId id="277" r:id="rId21"/>
    <p:sldId id="26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7C6E973-3B8E-640F-8AE5-34D18E94C91C}" name="Hamza Imtiaz" initials="HI" userId="S::hm477041@dal.ca::5e2bb00a-48c7-4705-a31d-ebf98e7c0de8" providerId="AD"/>
  <p188:author id="{3C713B81-E4D5-0F78-F6A6-3D545B20BE5A}" name="Alon Friedman" initials="AF" userId="S::al642234@dal.ca::6ef7f9ff-8b55-4386-b63c-8a3140bddd4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0" autoAdjust="0"/>
    <p:restoredTop sz="94696"/>
  </p:normalViewPr>
  <p:slideViewPr>
    <p:cSldViewPr snapToGrid="0">
      <p:cViewPr varScale="1">
        <p:scale>
          <a:sx n="75" d="100"/>
          <a:sy n="75" d="100"/>
        </p:scale>
        <p:origin x="6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8/10/relationships/authors" Targe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18D46-415A-70EB-F6D2-2A63647E61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6200A0A-76BD-A0C4-7F8E-AE9CEECC83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200A6D62-9036-361F-4EC1-C9F34AEB57D8}"/>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5" name="Footer Placeholder 4">
            <a:extLst>
              <a:ext uri="{FF2B5EF4-FFF2-40B4-BE49-F238E27FC236}">
                <a16:creationId xmlns:a16="http://schemas.microsoft.com/office/drawing/2014/main" id="{A660AA12-1CFC-9698-3B50-DE0B01C4063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501B9D7-A1DF-6881-B424-A77A0B9113D4}"/>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3819542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FEFD2-CC60-F6DB-4C5E-D0A3686BABC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D9AB316-B2FD-20F1-08B2-F0249431F8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CC2D20B-9F90-AD5E-A0F4-1C8EB72A8B14}"/>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5" name="Footer Placeholder 4">
            <a:extLst>
              <a:ext uri="{FF2B5EF4-FFF2-40B4-BE49-F238E27FC236}">
                <a16:creationId xmlns:a16="http://schemas.microsoft.com/office/drawing/2014/main" id="{B075BE84-0002-9DA7-BDFC-BFD1BB26517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1482B52-0E34-BFB3-03B3-887D4CACE523}"/>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878796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12FAA-4B87-297C-C21C-486BA03526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F224B976-1E97-5835-BE5B-BE6E89698D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FD3879-C7D8-AD68-8775-D1414E03F381}"/>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5" name="Footer Placeholder 4">
            <a:extLst>
              <a:ext uri="{FF2B5EF4-FFF2-40B4-BE49-F238E27FC236}">
                <a16:creationId xmlns:a16="http://schemas.microsoft.com/office/drawing/2014/main" id="{0710DFBA-9BFA-1F79-207D-2BE1270558A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7C358BC-B12D-11F1-43C3-CEF86FA1D173}"/>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271247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2581F-BDC1-35C2-A91F-0E5FCB74359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D197E665-6A1A-A8CF-4EB6-DD91130AF0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6056C56-6009-9D26-0D35-9CFF39C779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8C357171-F5EF-BC45-F54B-1220B5BC948F}"/>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6" name="Footer Placeholder 5">
            <a:extLst>
              <a:ext uri="{FF2B5EF4-FFF2-40B4-BE49-F238E27FC236}">
                <a16:creationId xmlns:a16="http://schemas.microsoft.com/office/drawing/2014/main" id="{6E665996-A570-2E5A-F5FC-0F3B9FB90C6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2F1481A-0508-9C2B-73D5-6BA9722BB2DE}"/>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1511632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C7157-9BF0-AF2D-8906-50BB97D65D74}"/>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8CB0661-84F4-34FF-508D-EAA8B41BFF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24D34C-F8F9-9980-508D-4DD2B9A391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E76F905-06DC-264E-9794-0C768103D2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4535C4-7482-E098-E9FF-56FBB713C4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0CEDB2FB-7AAF-5698-ABD7-9F3B969243A9}"/>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8" name="Footer Placeholder 7">
            <a:extLst>
              <a:ext uri="{FF2B5EF4-FFF2-40B4-BE49-F238E27FC236}">
                <a16:creationId xmlns:a16="http://schemas.microsoft.com/office/drawing/2014/main" id="{C7C0ED33-5BDC-6687-DB9E-655C7DB34122}"/>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762B930E-C06E-89CB-41A5-26BA5534D18A}"/>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1222005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F9B1-C419-E9A9-2886-303F3C4F30E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444006B8-3F6A-89A8-F1D5-A640E43698F2}"/>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4" name="Footer Placeholder 3">
            <a:extLst>
              <a:ext uri="{FF2B5EF4-FFF2-40B4-BE49-F238E27FC236}">
                <a16:creationId xmlns:a16="http://schemas.microsoft.com/office/drawing/2014/main" id="{FCACD7C7-7997-CF24-21B4-1E836E66C0A6}"/>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0EA643A-6FFA-13C2-84DB-5AFDA8A86EF2}"/>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10911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5855B9-72B7-5ED8-B3E7-34C5BFC20541}"/>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3" name="Footer Placeholder 2">
            <a:extLst>
              <a:ext uri="{FF2B5EF4-FFF2-40B4-BE49-F238E27FC236}">
                <a16:creationId xmlns:a16="http://schemas.microsoft.com/office/drawing/2014/main" id="{27EE4064-C403-78CA-1FE9-87BD18A7E183}"/>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D7ABB12B-18D2-A9E9-1EAC-895F2163BC2D}"/>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1653651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597B8-BBA5-6008-3F1C-B67747BA04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1F80064C-DB78-D3D0-B32E-EE73B92C05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4F6E5DC-A282-9401-993B-FD9642D895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6ACE7-04E0-2117-A155-0B0EE48C79F2}"/>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6" name="Footer Placeholder 5">
            <a:extLst>
              <a:ext uri="{FF2B5EF4-FFF2-40B4-BE49-F238E27FC236}">
                <a16:creationId xmlns:a16="http://schemas.microsoft.com/office/drawing/2014/main" id="{5884919B-7CFF-1767-EAAD-E6B03374AB35}"/>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9F7173A-1153-DECB-449F-D5824D0B305A}"/>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1047631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4F31D-7440-5D22-26AD-1C242E45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8CFE403A-7B6F-6451-C305-34734B709AC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CCA0D42-EB58-AEB2-B350-2788968760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5D1C9D-C836-F6D9-9C38-81AAE69BF49C}"/>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6" name="Footer Placeholder 5">
            <a:extLst>
              <a:ext uri="{FF2B5EF4-FFF2-40B4-BE49-F238E27FC236}">
                <a16:creationId xmlns:a16="http://schemas.microsoft.com/office/drawing/2014/main" id="{59FC2FBD-6A29-512B-A2C7-8C22A90DD2E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769D6974-B5CE-B29D-08DF-6C829D2FA1AF}"/>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2528574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39B04-EEBD-0456-0A01-3B4D1AF0D7CB}"/>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5340BF4-8CE7-3874-DCB4-C2A016823C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1EB1E0D-73E3-EAFC-6C1D-FDB32932A0A1}"/>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5" name="Footer Placeholder 4">
            <a:extLst>
              <a:ext uri="{FF2B5EF4-FFF2-40B4-BE49-F238E27FC236}">
                <a16:creationId xmlns:a16="http://schemas.microsoft.com/office/drawing/2014/main" id="{E13CBDE1-4978-9F76-5763-CDE5C1594963}"/>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562D12A-3AA3-A836-0D5A-9E1833120DE7}"/>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3173982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0983B1-A3BF-7250-4A38-DD0D81F12D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59BBC5D1-9708-F658-A61D-50C77D2DA5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2A0E355-E732-963E-7517-FE36392A332C}"/>
              </a:ext>
            </a:extLst>
          </p:cNvPr>
          <p:cNvSpPr>
            <a:spLocks noGrp="1"/>
          </p:cNvSpPr>
          <p:nvPr>
            <p:ph type="dt" sz="half" idx="10"/>
          </p:nvPr>
        </p:nvSpPr>
        <p:spPr/>
        <p:txBody>
          <a:bodyPr/>
          <a:lstStyle/>
          <a:p>
            <a:fld id="{14082ECD-A530-401D-B15F-CE8EFDD63DED}" type="datetimeFigureOut">
              <a:rPr lang="en-CA" smtClean="0"/>
              <a:t>2025-12-28</a:t>
            </a:fld>
            <a:endParaRPr lang="en-CA"/>
          </a:p>
        </p:txBody>
      </p:sp>
      <p:sp>
        <p:nvSpPr>
          <p:cNvPr id="5" name="Footer Placeholder 4">
            <a:extLst>
              <a:ext uri="{FF2B5EF4-FFF2-40B4-BE49-F238E27FC236}">
                <a16:creationId xmlns:a16="http://schemas.microsoft.com/office/drawing/2014/main" id="{2F2E0A8A-13D1-9996-4AE7-55ACC66FBE5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0E19171-3E0E-F7B7-90C6-EE00A2CC1E5B}"/>
              </a:ext>
            </a:extLst>
          </p:cNvPr>
          <p:cNvSpPr>
            <a:spLocks noGrp="1"/>
          </p:cNvSpPr>
          <p:nvPr>
            <p:ph type="sldNum" sz="quarter" idx="12"/>
          </p:nvPr>
        </p:nvSpPr>
        <p:spPr/>
        <p:txBody>
          <a:bodyPr/>
          <a:lstStyle/>
          <a:p>
            <a:fld id="{A89CF5DC-E70C-415B-A5CE-BAC70584100D}" type="slidenum">
              <a:rPr lang="en-CA" smtClean="0"/>
              <a:t>‹#›</a:t>
            </a:fld>
            <a:endParaRPr lang="en-CA"/>
          </a:p>
        </p:txBody>
      </p:sp>
    </p:spTree>
    <p:extLst>
      <p:ext uri="{BB962C8B-B14F-4D97-AF65-F5344CB8AC3E}">
        <p14:creationId xmlns:p14="http://schemas.microsoft.com/office/powerpoint/2010/main" val="3486420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98D8B1-66BE-B106-22AD-2C5AA7FED3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32F62CC-E0C1-0716-6129-D267586BD3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E7AF94C-EA95-F619-F73A-2FA7B4C26C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082ECD-A530-401D-B15F-CE8EFDD63DED}" type="datetimeFigureOut">
              <a:rPr lang="en-CA" smtClean="0"/>
              <a:t>2025-12-28</a:t>
            </a:fld>
            <a:endParaRPr lang="en-CA"/>
          </a:p>
        </p:txBody>
      </p:sp>
      <p:sp>
        <p:nvSpPr>
          <p:cNvPr id="5" name="Footer Placeholder 4">
            <a:extLst>
              <a:ext uri="{FF2B5EF4-FFF2-40B4-BE49-F238E27FC236}">
                <a16:creationId xmlns:a16="http://schemas.microsoft.com/office/drawing/2014/main" id="{2DEFAC6D-77E1-FD55-9DA1-65961B4D70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E0584C6-B27C-99D1-5BC4-1F678F3782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9CF5DC-E70C-415B-A5CE-BAC70584100D}" type="slidenum">
              <a:rPr lang="en-CA" smtClean="0"/>
              <a:t>‹#›</a:t>
            </a:fld>
            <a:endParaRPr lang="en-CA"/>
          </a:p>
        </p:txBody>
      </p:sp>
    </p:spTree>
    <p:extLst>
      <p:ext uri="{BB962C8B-B14F-4D97-AF65-F5344CB8AC3E}">
        <p14:creationId xmlns:p14="http://schemas.microsoft.com/office/powerpoint/2010/main" val="2406220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oi.org/10.1002/epi4.7007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thub.com/Hamza-Dal/nVision-SeizureDetection.gi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143D2-A164-E11A-806B-87BE3E8DC55C}"/>
              </a:ext>
            </a:extLst>
          </p:cNvPr>
          <p:cNvSpPr>
            <a:spLocks noGrp="1"/>
          </p:cNvSpPr>
          <p:nvPr>
            <p:ph type="ctrTitle"/>
          </p:nvPr>
        </p:nvSpPr>
        <p:spPr>
          <a:xfrm>
            <a:off x="1524000" y="2036763"/>
            <a:ext cx="9144000" cy="995997"/>
          </a:xfrm>
        </p:spPr>
        <p:txBody>
          <a:bodyPr/>
          <a:lstStyle/>
          <a:p>
            <a:r>
              <a:rPr lang="en-US" dirty="0"/>
              <a:t>nVision</a:t>
            </a:r>
            <a:endParaRPr lang="en-CA" dirty="0"/>
          </a:p>
        </p:txBody>
      </p:sp>
      <p:sp>
        <p:nvSpPr>
          <p:cNvPr id="3" name="Subtitle 2">
            <a:extLst>
              <a:ext uri="{FF2B5EF4-FFF2-40B4-BE49-F238E27FC236}">
                <a16:creationId xmlns:a16="http://schemas.microsoft.com/office/drawing/2014/main" id="{F9C74999-EB3D-ABBD-9D8C-6C26CC8759DD}"/>
              </a:ext>
            </a:extLst>
          </p:cNvPr>
          <p:cNvSpPr>
            <a:spLocks noGrp="1"/>
          </p:cNvSpPr>
          <p:nvPr>
            <p:ph type="subTitle" idx="1"/>
          </p:nvPr>
        </p:nvSpPr>
        <p:spPr>
          <a:xfrm>
            <a:off x="1524000" y="3083878"/>
            <a:ext cx="9144000" cy="467042"/>
          </a:xfrm>
        </p:spPr>
        <p:txBody>
          <a:bodyPr/>
          <a:lstStyle/>
          <a:p>
            <a:r>
              <a:rPr lang="en-US" dirty="0"/>
              <a:t>An algorithm for seizure detection in rodents</a:t>
            </a:r>
          </a:p>
        </p:txBody>
      </p:sp>
      <p:sp>
        <p:nvSpPr>
          <p:cNvPr id="4" name="Subtitle 2">
            <a:extLst>
              <a:ext uri="{FF2B5EF4-FFF2-40B4-BE49-F238E27FC236}">
                <a16:creationId xmlns:a16="http://schemas.microsoft.com/office/drawing/2014/main" id="{7F88117B-2E9A-A600-CCD3-A290A63A9337}"/>
              </a:ext>
            </a:extLst>
          </p:cNvPr>
          <p:cNvSpPr txBox="1">
            <a:spLocks/>
          </p:cNvSpPr>
          <p:nvPr/>
        </p:nvSpPr>
        <p:spPr>
          <a:xfrm>
            <a:off x="1524000" y="4295458"/>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CA" dirty="0" err="1"/>
              <a:t>Kamintsky</a:t>
            </a:r>
            <a:r>
              <a:rPr lang="en-CA" dirty="0"/>
              <a:t> L, van </a:t>
            </a:r>
            <a:r>
              <a:rPr lang="en-CA" dirty="0" err="1"/>
              <a:t>Hameren</a:t>
            </a:r>
            <a:r>
              <a:rPr lang="en-CA" dirty="0"/>
              <a:t> G, Weissberg I, Moradi P, Prager O, Ahmad AA, et al. An algorithm for seizure detection in rodents. Epilepsia Open. 2025; 00: 1–13. </a:t>
            </a:r>
            <a:r>
              <a:rPr lang="en-CA" dirty="0">
                <a:hlinkClick r:id="rId2"/>
              </a:rPr>
              <a:t>https://doi.org/10.1002/epi4.70070</a:t>
            </a:r>
            <a:endParaRPr lang="en-CA" dirty="0"/>
          </a:p>
          <a:p>
            <a:endParaRPr lang="en-US" dirty="0"/>
          </a:p>
        </p:txBody>
      </p:sp>
      <p:cxnSp>
        <p:nvCxnSpPr>
          <p:cNvPr id="6" name="Straight Connector 5">
            <a:extLst>
              <a:ext uri="{FF2B5EF4-FFF2-40B4-BE49-F238E27FC236}">
                <a16:creationId xmlns:a16="http://schemas.microsoft.com/office/drawing/2014/main" id="{F28EF26E-268C-FCC7-1630-472975260906}"/>
              </a:ext>
            </a:extLst>
          </p:cNvPr>
          <p:cNvCxnSpPr/>
          <p:nvPr/>
        </p:nvCxnSpPr>
        <p:spPr>
          <a:xfrm>
            <a:off x="1767840" y="3771900"/>
            <a:ext cx="8900160" cy="0"/>
          </a:xfrm>
          <a:prstGeom prst="line">
            <a:avLst/>
          </a:prstGeom>
          <a:ln w="38100"/>
        </p:spPr>
        <p:style>
          <a:lnRef idx="2">
            <a:schemeClr val="dk1"/>
          </a:lnRef>
          <a:fillRef idx="0">
            <a:schemeClr val="dk1"/>
          </a:fillRef>
          <a:effectRef idx="1">
            <a:schemeClr val="dk1"/>
          </a:effectRef>
          <a:fontRef idx="minor">
            <a:schemeClr val="tx1"/>
          </a:fontRef>
        </p:style>
      </p:cxnSp>
      <p:pic>
        <p:nvPicPr>
          <p:cNvPr id="5" name="Picture 4" descr="The Dal Brand | Dalhousie University">
            <a:extLst>
              <a:ext uri="{FF2B5EF4-FFF2-40B4-BE49-F238E27FC236}">
                <a16:creationId xmlns:a16="http://schemas.microsoft.com/office/drawing/2014/main" id="{30A98E2E-2B59-A32B-E04F-0F8084EBE4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0664" y="291841"/>
            <a:ext cx="3768436" cy="1063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2148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821D3-21F7-ACE2-282B-0A8F4360E468}"/>
              </a:ext>
            </a:extLst>
          </p:cNvPr>
          <p:cNvSpPr>
            <a:spLocks noGrp="1"/>
          </p:cNvSpPr>
          <p:nvPr>
            <p:ph type="title"/>
          </p:nvPr>
        </p:nvSpPr>
        <p:spPr>
          <a:xfrm>
            <a:off x="838200" y="182245"/>
            <a:ext cx="10515600" cy="1325563"/>
          </a:xfrm>
        </p:spPr>
        <p:txBody>
          <a:bodyPr/>
          <a:lstStyle/>
          <a:p>
            <a:r>
              <a:rPr lang="en-US" dirty="0"/>
              <a:t>Table of contents</a:t>
            </a:r>
            <a:endParaRPr lang="en-CA" dirty="0"/>
          </a:p>
        </p:txBody>
      </p:sp>
      <p:sp>
        <p:nvSpPr>
          <p:cNvPr id="3" name="Content Placeholder 2">
            <a:extLst>
              <a:ext uri="{FF2B5EF4-FFF2-40B4-BE49-F238E27FC236}">
                <a16:creationId xmlns:a16="http://schemas.microsoft.com/office/drawing/2014/main" id="{4C8F725B-E512-C861-B367-D28ECC61AED3}"/>
              </a:ext>
            </a:extLst>
          </p:cNvPr>
          <p:cNvSpPr>
            <a:spLocks noGrp="1"/>
          </p:cNvSpPr>
          <p:nvPr>
            <p:ph idx="1"/>
          </p:nvPr>
        </p:nvSpPr>
        <p:spPr>
          <a:xfrm>
            <a:off x="838200" y="1507808"/>
            <a:ext cx="10515600" cy="4351338"/>
          </a:xfrm>
        </p:spPr>
        <p:txBody>
          <a:bodyPr>
            <a:normAutofit fontScale="92500" lnSpcReduction="20000"/>
          </a:bodyPr>
          <a:lstStyle/>
          <a:p>
            <a:r>
              <a:rPr lang="en-US" dirty="0"/>
              <a:t>Installation</a:t>
            </a:r>
          </a:p>
          <a:p>
            <a:r>
              <a:rPr lang="en-US" dirty="0"/>
              <a:t>Main graphical user interface</a:t>
            </a:r>
          </a:p>
          <a:p>
            <a:r>
              <a:rPr lang="en-US" dirty="0"/>
              <a:t>Input signal requirements</a:t>
            </a:r>
          </a:p>
          <a:p>
            <a:r>
              <a:rPr lang="en-US" dirty="0"/>
              <a:t>Importing data</a:t>
            </a:r>
          </a:p>
          <a:p>
            <a:r>
              <a:rPr lang="en-US" dirty="0"/>
              <a:t>Data viewer</a:t>
            </a:r>
          </a:p>
          <a:p>
            <a:r>
              <a:rPr lang="en-US" dirty="0"/>
              <a:t>Selecting a quiet zone</a:t>
            </a:r>
          </a:p>
          <a:p>
            <a:r>
              <a:rPr lang="en-US" dirty="0"/>
              <a:t>Detecting seizure-like events</a:t>
            </a:r>
          </a:p>
          <a:p>
            <a:r>
              <a:rPr lang="en-US" dirty="0"/>
              <a:t>Results</a:t>
            </a:r>
          </a:p>
          <a:p>
            <a:r>
              <a:rPr lang="en-US" dirty="0"/>
              <a:t>Troubleshooting</a:t>
            </a:r>
          </a:p>
          <a:p>
            <a:r>
              <a:rPr lang="en-US" dirty="0"/>
              <a:t>Contact us</a:t>
            </a:r>
            <a:endParaRPr lang="en-CA" dirty="0"/>
          </a:p>
        </p:txBody>
      </p:sp>
    </p:spTree>
    <p:extLst>
      <p:ext uri="{BB962C8B-B14F-4D97-AF65-F5344CB8AC3E}">
        <p14:creationId xmlns:p14="http://schemas.microsoft.com/office/powerpoint/2010/main" val="3656126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15495-4DFA-59C2-D60A-4712C16CDD12}"/>
              </a:ext>
            </a:extLst>
          </p:cNvPr>
          <p:cNvSpPr>
            <a:spLocks noGrp="1"/>
          </p:cNvSpPr>
          <p:nvPr>
            <p:ph type="title"/>
          </p:nvPr>
        </p:nvSpPr>
        <p:spPr/>
        <p:txBody>
          <a:bodyPr/>
          <a:lstStyle/>
          <a:p>
            <a:r>
              <a:rPr lang="en-US" dirty="0"/>
              <a:t>Installation</a:t>
            </a:r>
            <a:endParaRPr lang="en-CA" dirty="0"/>
          </a:p>
        </p:txBody>
      </p:sp>
      <p:sp>
        <p:nvSpPr>
          <p:cNvPr id="3" name="Content Placeholder 2">
            <a:extLst>
              <a:ext uri="{FF2B5EF4-FFF2-40B4-BE49-F238E27FC236}">
                <a16:creationId xmlns:a16="http://schemas.microsoft.com/office/drawing/2014/main" id="{15EA81DE-6DD0-82D1-DF6B-B88F8F81992D}"/>
              </a:ext>
            </a:extLst>
          </p:cNvPr>
          <p:cNvSpPr>
            <a:spLocks noGrp="1"/>
          </p:cNvSpPr>
          <p:nvPr>
            <p:ph idx="1"/>
          </p:nvPr>
        </p:nvSpPr>
        <p:spPr/>
        <p:txBody>
          <a:bodyPr/>
          <a:lstStyle/>
          <a:p>
            <a:pPr marL="0" indent="0">
              <a:buNone/>
            </a:pPr>
            <a:r>
              <a:rPr lang="en-US" dirty="0"/>
              <a:t>nVision is a graphical user interface built using MATLAB code. To run it, a valid up-to-date installation of MATLAB is required. In addition, the following toolboxes are required:</a:t>
            </a:r>
          </a:p>
          <a:p>
            <a:r>
              <a:rPr lang="en-US" dirty="0"/>
              <a:t>Signal processing</a:t>
            </a:r>
          </a:p>
          <a:p>
            <a:r>
              <a:rPr lang="en-US" dirty="0"/>
              <a:t>Deep learning</a:t>
            </a:r>
          </a:p>
          <a:p>
            <a:r>
              <a:rPr lang="en-US" dirty="0"/>
              <a:t>Statistics and Machine Learning</a:t>
            </a:r>
          </a:p>
          <a:p>
            <a:pPr marL="0" indent="0">
              <a:buNone/>
            </a:pPr>
            <a:endParaRPr lang="en-US" dirty="0"/>
          </a:p>
          <a:p>
            <a:pPr marL="0" indent="0">
              <a:buNone/>
            </a:pPr>
            <a:r>
              <a:rPr lang="en-US" dirty="0"/>
              <a:t>Toolboxes can be installed by clicking App &gt; Get More Apps</a:t>
            </a:r>
          </a:p>
        </p:txBody>
      </p:sp>
      <p:pic>
        <p:nvPicPr>
          <p:cNvPr id="5" name="Picture 4">
            <a:extLst>
              <a:ext uri="{FF2B5EF4-FFF2-40B4-BE49-F238E27FC236}">
                <a16:creationId xmlns:a16="http://schemas.microsoft.com/office/drawing/2014/main" id="{2F4BCF7D-274B-7157-039F-B64CFC45187B}"/>
              </a:ext>
            </a:extLst>
          </p:cNvPr>
          <p:cNvPicPr>
            <a:picLocks noChangeAspect="1"/>
          </p:cNvPicPr>
          <p:nvPr/>
        </p:nvPicPr>
        <p:blipFill>
          <a:blip r:embed="rId2"/>
          <a:stretch>
            <a:fillRect/>
          </a:stretch>
        </p:blipFill>
        <p:spPr>
          <a:xfrm>
            <a:off x="7040880" y="3217313"/>
            <a:ext cx="3789238" cy="1567961"/>
          </a:xfrm>
          <a:prstGeom prst="rect">
            <a:avLst/>
          </a:prstGeom>
        </p:spPr>
      </p:pic>
      <p:cxnSp>
        <p:nvCxnSpPr>
          <p:cNvPr id="7" name="Straight Arrow Connector 6">
            <a:extLst>
              <a:ext uri="{FF2B5EF4-FFF2-40B4-BE49-F238E27FC236}">
                <a16:creationId xmlns:a16="http://schemas.microsoft.com/office/drawing/2014/main" id="{E77148C0-24DA-0E84-BEE5-8D8F16E0D778}"/>
              </a:ext>
            </a:extLst>
          </p:cNvPr>
          <p:cNvCxnSpPr>
            <a:cxnSpLocks/>
          </p:cNvCxnSpPr>
          <p:nvPr/>
        </p:nvCxnSpPr>
        <p:spPr>
          <a:xfrm flipH="1" flipV="1">
            <a:off x="8290560" y="4739554"/>
            <a:ext cx="335280" cy="41156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09624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EF050-CC5A-0CDA-690B-F2B9D58767FC}"/>
              </a:ext>
            </a:extLst>
          </p:cNvPr>
          <p:cNvSpPr>
            <a:spLocks noGrp="1"/>
          </p:cNvSpPr>
          <p:nvPr>
            <p:ph type="title"/>
          </p:nvPr>
        </p:nvSpPr>
        <p:spPr/>
        <p:txBody>
          <a:bodyPr/>
          <a:lstStyle/>
          <a:p>
            <a:r>
              <a:rPr lang="en-US" dirty="0"/>
              <a:t>Installation</a:t>
            </a:r>
            <a:endParaRPr lang="en-CA" dirty="0"/>
          </a:p>
        </p:txBody>
      </p:sp>
      <p:sp>
        <p:nvSpPr>
          <p:cNvPr id="3" name="Content Placeholder 2">
            <a:extLst>
              <a:ext uri="{FF2B5EF4-FFF2-40B4-BE49-F238E27FC236}">
                <a16:creationId xmlns:a16="http://schemas.microsoft.com/office/drawing/2014/main" id="{131308CE-CB50-AB3C-5500-0B93BFC7FCA5}"/>
              </a:ext>
            </a:extLst>
          </p:cNvPr>
          <p:cNvSpPr>
            <a:spLocks noGrp="1"/>
          </p:cNvSpPr>
          <p:nvPr>
            <p:ph idx="1"/>
          </p:nvPr>
        </p:nvSpPr>
        <p:spPr>
          <a:xfrm>
            <a:off x="838199" y="1825625"/>
            <a:ext cx="6322936" cy="4351338"/>
          </a:xfrm>
        </p:spPr>
        <p:txBody>
          <a:bodyPr>
            <a:normAutofit fontScale="92500" lnSpcReduction="10000"/>
          </a:bodyPr>
          <a:lstStyle/>
          <a:p>
            <a:pPr marL="0" indent="0">
              <a:buNone/>
            </a:pPr>
            <a:r>
              <a:rPr lang="en-US" dirty="0"/>
              <a:t>nVision can then be downloaded from the GitHub link below:</a:t>
            </a:r>
          </a:p>
          <a:p>
            <a:pPr marL="0" indent="0" algn="ctr">
              <a:buNone/>
            </a:pPr>
            <a:r>
              <a:rPr lang="en-US" i="1" dirty="0">
                <a:hlinkClick r:id="rId2"/>
              </a:rPr>
              <a:t>https://github.com/Hamza-Dal/nVision-SeizureDetection.git</a:t>
            </a:r>
            <a:endParaRPr lang="en-CA" dirty="0"/>
          </a:p>
          <a:p>
            <a:pPr marL="0" indent="0">
              <a:buNone/>
            </a:pPr>
            <a:endParaRPr lang="en-CA" dirty="0"/>
          </a:p>
          <a:p>
            <a:pPr marL="0" indent="0">
              <a:buNone/>
            </a:pPr>
            <a:r>
              <a:rPr lang="en-CA"/>
              <a:t>Ensure </a:t>
            </a:r>
            <a:r>
              <a:rPr lang="en-CA" dirty="0"/>
              <a:t>that the files are unzipped and that current working directory in MATLAB is set to the nVision folder</a:t>
            </a:r>
          </a:p>
          <a:p>
            <a:pPr marL="0" indent="0">
              <a:buNone/>
            </a:pPr>
            <a:endParaRPr lang="en-CA" dirty="0"/>
          </a:p>
          <a:p>
            <a:pPr marL="0" indent="0">
              <a:buNone/>
            </a:pPr>
            <a:r>
              <a:rPr lang="en-CA" dirty="0"/>
              <a:t>Locate and double click on the script titled:</a:t>
            </a:r>
            <a:br>
              <a:rPr lang="en-CA" dirty="0"/>
            </a:br>
            <a:r>
              <a:rPr lang="en-US" b="1" dirty="0"/>
              <a:t>nvision2013_parameters_5_vs_26_g_new</a:t>
            </a:r>
            <a:endParaRPr lang="en-CA" b="1" dirty="0"/>
          </a:p>
        </p:txBody>
      </p:sp>
      <p:pic>
        <p:nvPicPr>
          <p:cNvPr id="5" name="Picture 4">
            <a:extLst>
              <a:ext uri="{FF2B5EF4-FFF2-40B4-BE49-F238E27FC236}">
                <a16:creationId xmlns:a16="http://schemas.microsoft.com/office/drawing/2014/main" id="{AA402C4C-342F-4AFB-82E3-1C12817FB815}"/>
              </a:ext>
            </a:extLst>
          </p:cNvPr>
          <p:cNvPicPr>
            <a:picLocks noChangeAspect="1"/>
          </p:cNvPicPr>
          <p:nvPr/>
        </p:nvPicPr>
        <p:blipFill>
          <a:blip r:embed="rId3"/>
          <a:stretch>
            <a:fillRect/>
          </a:stretch>
        </p:blipFill>
        <p:spPr>
          <a:xfrm>
            <a:off x="7624033" y="1027906"/>
            <a:ext cx="4066969" cy="3963352"/>
          </a:xfrm>
          <a:prstGeom prst="rect">
            <a:avLst/>
          </a:prstGeom>
        </p:spPr>
      </p:pic>
      <p:sp>
        <p:nvSpPr>
          <p:cNvPr id="6" name="Content Placeholder 2">
            <a:extLst>
              <a:ext uri="{FF2B5EF4-FFF2-40B4-BE49-F238E27FC236}">
                <a16:creationId xmlns:a16="http://schemas.microsoft.com/office/drawing/2014/main" id="{7C2CDD30-9A7E-39AF-F262-B76488B258A5}"/>
              </a:ext>
            </a:extLst>
          </p:cNvPr>
          <p:cNvSpPr txBox="1">
            <a:spLocks/>
          </p:cNvSpPr>
          <p:nvPr/>
        </p:nvSpPr>
        <p:spPr>
          <a:xfrm>
            <a:off x="7813477" y="5072537"/>
            <a:ext cx="3688080" cy="11630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dirty="0"/>
              <a:t>The </a:t>
            </a:r>
            <a:r>
              <a:rPr lang="en-US" i="1" dirty="0"/>
              <a:t>Current Folder </a:t>
            </a:r>
            <a:r>
              <a:rPr lang="en-US" dirty="0"/>
              <a:t>should look like this</a:t>
            </a:r>
            <a:endParaRPr lang="en-CA" dirty="0"/>
          </a:p>
        </p:txBody>
      </p:sp>
    </p:spTree>
    <p:extLst>
      <p:ext uri="{BB962C8B-B14F-4D97-AF65-F5344CB8AC3E}">
        <p14:creationId xmlns:p14="http://schemas.microsoft.com/office/powerpoint/2010/main" val="3553373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14BC9-003E-BD95-D706-69A4D56E7ED4}"/>
              </a:ext>
            </a:extLst>
          </p:cNvPr>
          <p:cNvSpPr>
            <a:spLocks noGrp="1"/>
          </p:cNvSpPr>
          <p:nvPr>
            <p:ph type="title"/>
          </p:nvPr>
        </p:nvSpPr>
        <p:spPr/>
        <p:txBody>
          <a:bodyPr/>
          <a:lstStyle/>
          <a:p>
            <a:r>
              <a:rPr lang="en-US" dirty="0"/>
              <a:t>Main graphical user interface</a:t>
            </a:r>
            <a:endParaRPr lang="en-CA" dirty="0"/>
          </a:p>
        </p:txBody>
      </p:sp>
      <p:sp>
        <p:nvSpPr>
          <p:cNvPr id="3" name="Content Placeholder 2">
            <a:extLst>
              <a:ext uri="{FF2B5EF4-FFF2-40B4-BE49-F238E27FC236}">
                <a16:creationId xmlns:a16="http://schemas.microsoft.com/office/drawing/2014/main" id="{67B1776F-17A2-EDE1-C870-03C27874D18D}"/>
              </a:ext>
            </a:extLst>
          </p:cNvPr>
          <p:cNvSpPr>
            <a:spLocks noGrp="1"/>
          </p:cNvSpPr>
          <p:nvPr>
            <p:ph idx="1"/>
          </p:nvPr>
        </p:nvSpPr>
        <p:spPr/>
        <p:txBody>
          <a:bodyPr/>
          <a:lstStyle/>
          <a:p>
            <a:pPr marL="0" indent="0">
              <a:buNone/>
            </a:pPr>
            <a:r>
              <a:rPr lang="en-US" dirty="0"/>
              <a:t>To run nVision, navigate to </a:t>
            </a:r>
            <a:r>
              <a:rPr lang="en-US" i="1" dirty="0"/>
              <a:t>Editor</a:t>
            </a:r>
            <a:r>
              <a:rPr lang="en-US" dirty="0"/>
              <a:t> then click </a:t>
            </a:r>
            <a:r>
              <a:rPr lang="en-US" i="1" dirty="0"/>
              <a:t>Run</a:t>
            </a:r>
            <a:endParaRPr lang="en-CA" i="1" dirty="0"/>
          </a:p>
        </p:txBody>
      </p:sp>
      <p:pic>
        <p:nvPicPr>
          <p:cNvPr id="5" name="Picture 4">
            <a:extLst>
              <a:ext uri="{FF2B5EF4-FFF2-40B4-BE49-F238E27FC236}">
                <a16:creationId xmlns:a16="http://schemas.microsoft.com/office/drawing/2014/main" id="{038BE64A-2EEF-3978-DABD-12989544B2B7}"/>
              </a:ext>
            </a:extLst>
          </p:cNvPr>
          <p:cNvPicPr>
            <a:picLocks noChangeAspect="1"/>
          </p:cNvPicPr>
          <p:nvPr/>
        </p:nvPicPr>
        <p:blipFill>
          <a:blip r:embed="rId2"/>
          <a:stretch>
            <a:fillRect/>
          </a:stretch>
        </p:blipFill>
        <p:spPr>
          <a:xfrm>
            <a:off x="2090941" y="2594089"/>
            <a:ext cx="8010117" cy="1669821"/>
          </a:xfrm>
          <a:prstGeom prst="rect">
            <a:avLst/>
          </a:prstGeom>
        </p:spPr>
      </p:pic>
      <p:cxnSp>
        <p:nvCxnSpPr>
          <p:cNvPr id="7" name="Straight Arrow Connector 6">
            <a:extLst>
              <a:ext uri="{FF2B5EF4-FFF2-40B4-BE49-F238E27FC236}">
                <a16:creationId xmlns:a16="http://schemas.microsoft.com/office/drawing/2014/main" id="{6F88E073-A6C3-9EA7-C5DB-A807F7B80888}"/>
              </a:ext>
            </a:extLst>
          </p:cNvPr>
          <p:cNvCxnSpPr/>
          <p:nvPr/>
        </p:nvCxnSpPr>
        <p:spPr>
          <a:xfrm flipH="1" flipV="1">
            <a:off x="8747760" y="4001294"/>
            <a:ext cx="731520" cy="82978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9725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C49C-185A-CD86-10A1-DB987DDD2E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2DB09B-44E9-27C5-4A6A-BC35521B4869}"/>
              </a:ext>
            </a:extLst>
          </p:cNvPr>
          <p:cNvSpPr>
            <a:spLocks noGrp="1"/>
          </p:cNvSpPr>
          <p:nvPr>
            <p:ph type="title"/>
          </p:nvPr>
        </p:nvSpPr>
        <p:spPr/>
        <p:txBody>
          <a:bodyPr/>
          <a:lstStyle/>
          <a:p>
            <a:r>
              <a:rPr lang="en-US" dirty="0"/>
              <a:t>Main graphical user interface</a:t>
            </a:r>
            <a:endParaRPr lang="en-CA" dirty="0"/>
          </a:p>
        </p:txBody>
      </p:sp>
      <p:sp>
        <p:nvSpPr>
          <p:cNvPr id="3" name="Content Placeholder 2">
            <a:extLst>
              <a:ext uri="{FF2B5EF4-FFF2-40B4-BE49-F238E27FC236}">
                <a16:creationId xmlns:a16="http://schemas.microsoft.com/office/drawing/2014/main" id="{EE572DF5-B0D7-CE0C-F907-9AA67996D730}"/>
              </a:ext>
            </a:extLst>
          </p:cNvPr>
          <p:cNvSpPr>
            <a:spLocks noGrp="1"/>
          </p:cNvSpPr>
          <p:nvPr>
            <p:ph idx="1"/>
          </p:nvPr>
        </p:nvSpPr>
        <p:spPr/>
        <p:txBody>
          <a:bodyPr/>
          <a:lstStyle/>
          <a:p>
            <a:pPr marL="0" indent="0">
              <a:buNone/>
            </a:pPr>
            <a:r>
              <a:rPr lang="en-US" dirty="0"/>
              <a:t>The main graphical user interface (GUI) should now appear</a:t>
            </a:r>
            <a:endParaRPr lang="en-CA" i="1" dirty="0"/>
          </a:p>
        </p:txBody>
      </p:sp>
      <p:pic>
        <p:nvPicPr>
          <p:cNvPr id="6" name="Picture 5">
            <a:extLst>
              <a:ext uri="{FF2B5EF4-FFF2-40B4-BE49-F238E27FC236}">
                <a16:creationId xmlns:a16="http://schemas.microsoft.com/office/drawing/2014/main" id="{787EEF08-9000-E428-47D6-200ED0C9921D}"/>
              </a:ext>
            </a:extLst>
          </p:cNvPr>
          <p:cNvPicPr>
            <a:picLocks noChangeAspect="1"/>
          </p:cNvPicPr>
          <p:nvPr/>
        </p:nvPicPr>
        <p:blipFill>
          <a:blip r:embed="rId2"/>
          <a:stretch>
            <a:fillRect/>
          </a:stretch>
        </p:blipFill>
        <p:spPr>
          <a:xfrm>
            <a:off x="2438400" y="2373243"/>
            <a:ext cx="7315200" cy="3938657"/>
          </a:xfrm>
          <a:prstGeom prst="rect">
            <a:avLst/>
          </a:prstGeom>
        </p:spPr>
      </p:pic>
    </p:spTree>
    <p:extLst>
      <p:ext uri="{BB962C8B-B14F-4D97-AF65-F5344CB8AC3E}">
        <p14:creationId xmlns:p14="http://schemas.microsoft.com/office/powerpoint/2010/main" val="2227202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8B332-D005-A59A-BD12-6081DAD75425}"/>
              </a:ext>
            </a:extLst>
          </p:cNvPr>
          <p:cNvSpPr>
            <a:spLocks noGrp="1"/>
          </p:cNvSpPr>
          <p:nvPr>
            <p:ph type="title"/>
          </p:nvPr>
        </p:nvSpPr>
        <p:spPr/>
        <p:txBody>
          <a:bodyPr/>
          <a:lstStyle/>
          <a:p>
            <a:r>
              <a:rPr lang="en-US" dirty="0"/>
              <a:t>Input signal requirements</a:t>
            </a:r>
          </a:p>
        </p:txBody>
      </p:sp>
      <p:sp>
        <p:nvSpPr>
          <p:cNvPr id="3" name="Content Placeholder 2">
            <a:extLst>
              <a:ext uri="{FF2B5EF4-FFF2-40B4-BE49-F238E27FC236}">
                <a16:creationId xmlns:a16="http://schemas.microsoft.com/office/drawing/2014/main" id="{4F7E6167-A40D-9FCE-29A9-16E578E8016E}"/>
              </a:ext>
            </a:extLst>
          </p:cNvPr>
          <p:cNvSpPr>
            <a:spLocks noGrp="1"/>
          </p:cNvSpPr>
          <p:nvPr>
            <p:ph idx="1"/>
          </p:nvPr>
        </p:nvSpPr>
        <p:spPr>
          <a:xfrm>
            <a:off x="838199" y="1825625"/>
            <a:ext cx="6208059" cy="4351338"/>
          </a:xfrm>
        </p:spPr>
        <p:txBody>
          <a:bodyPr/>
          <a:lstStyle/>
          <a:p>
            <a:r>
              <a:rPr lang="en-US" dirty="0"/>
              <a:t>Data should contain minimal noise and in millivolt range</a:t>
            </a:r>
          </a:p>
          <a:p>
            <a:r>
              <a:rPr lang="en-US" dirty="0"/>
              <a:t>Sampling frequency should be 1000, 500 or 200 Hz</a:t>
            </a:r>
          </a:p>
          <a:p>
            <a:r>
              <a:rPr lang="en-US" dirty="0"/>
              <a:t>Signal filetype should be .</a:t>
            </a:r>
            <a:r>
              <a:rPr lang="en-US" dirty="0" err="1"/>
              <a:t>dat</a:t>
            </a:r>
            <a:endParaRPr lang="en-US" dirty="0"/>
          </a:p>
          <a:p>
            <a:r>
              <a:rPr lang="en-US" dirty="0"/>
              <a:t>Edf files can be converted using </a:t>
            </a:r>
            <a:r>
              <a:rPr lang="en-US" b="1" dirty="0"/>
              <a:t>edf2dat_updated.m</a:t>
            </a:r>
          </a:p>
        </p:txBody>
      </p:sp>
      <p:pic>
        <p:nvPicPr>
          <p:cNvPr id="5" name="Picture 4">
            <a:extLst>
              <a:ext uri="{FF2B5EF4-FFF2-40B4-BE49-F238E27FC236}">
                <a16:creationId xmlns:a16="http://schemas.microsoft.com/office/drawing/2014/main" id="{09F9D57A-7712-ECF6-EE41-97BEF337A202}"/>
              </a:ext>
            </a:extLst>
          </p:cNvPr>
          <p:cNvPicPr>
            <a:picLocks noChangeAspect="1"/>
          </p:cNvPicPr>
          <p:nvPr/>
        </p:nvPicPr>
        <p:blipFill>
          <a:blip r:embed="rId2"/>
          <a:stretch>
            <a:fillRect/>
          </a:stretch>
        </p:blipFill>
        <p:spPr>
          <a:xfrm>
            <a:off x="7781718" y="2172896"/>
            <a:ext cx="2934109" cy="1867161"/>
          </a:xfrm>
          <a:prstGeom prst="rect">
            <a:avLst/>
          </a:prstGeom>
        </p:spPr>
      </p:pic>
      <p:sp>
        <p:nvSpPr>
          <p:cNvPr id="6" name="Content Placeholder 2">
            <a:extLst>
              <a:ext uri="{FF2B5EF4-FFF2-40B4-BE49-F238E27FC236}">
                <a16:creationId xmlns:a16="http://schemas.microsoft.com/office/drawing/2014/main" id="{254906C1-42AE-3C2C-ADE5-EFE6A28B7291}"/>
              </a:ext>
            </a:extLst>
          </p:cNvPr>
          <p:cNvSpPr txBox="1">
            <a:spLocks/>
          </p:cNvSpPr>
          <p:nvPr/>
        </p:nvSpPr>
        <p:spPr>
          <a:xfrm>
            <a:off x="7234236" y="4314824"/>
            <a:ext cx="4029075" cy="881063"/>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Sampling frequency can be selected from the menu bar</a:t>
            </a:r>
            <a:endParaRPr lang="en-US" b="1" dirty="0"/>
          </a:p>
        </p:txBody>
      </p:sp>
    </p:spTree>
    <p:extLst>
      <p:ext uri="{BB962C8B-B14F-4D97-AF65-F5344CB8AC3E}">
        <p14:creationId xmlns:p14="http://schemas.microsoft.com/office/powerpoint/2010/main" val="1282092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26D62-77B9-E5F4-E44D-28C5874AB865}"/>
              </a:ext>
            </a:extLst>
          </p:cNvPr>
          <p:cNvSpPr>
            <a:spLocks noGrp="1"/>
          </p:cNvSpPr>
          <p:nvPr>
            <p:ph type="title"/>
          </p:nvPr>
        </p:nvSpPr>
        <p:spPr/>
        <p:txBody>
          <a:bodyPr/>
          <a:lstStyle/>
          <a:p>
            <a:r>
              <a:rPr lang="en-US" dirty="0"/>
              <a:t>Importing data</a:t>
            </a:r>
          </a:p>
        </p:txBody>
      </p:sp>
      <p:sp>
        <p:nvSpPr>
          <p:cNvPr id="3" name="Content Placeholder 2">
            <a:extLst>
              <a:ext uri="{FF2B5EF4-FFF2-40B4-BE49-F238E27FC236}">
                <a16:creationId xmlns:a16="http://schemas.microsoft.com/office/drawing/2014/main" id="{1800DD68-A958-8CE3-02BA-9837794F114D}"/>
              </a:ext>
            </a:extLst>
          </p:cNvPr>
          <p:cNvSpPr>
            <a:spLocks noGrp="1"/>
          </p:cNvSpPr>
          <p:nvPr>
            <p:ph idx="1"/>
          </p:nvPr>
        </p:nvSpPr>
        <p:spPr>
          <a:xfrm>
            <a:off x="838200" y="1825625"/>
            <a:ext cx="5059681" cy="4351338"/>
          </a:xfrm>
        </p:spPr>
        <p:txBody>
          <a:bodyPr/>
          <a:lstStyle/>
          <a:p>
            <a:r>
              <a:rPr lang="en-US" dirty="0"/>
              <a:t>Click </a:t>
            </a:r>
            <a:r>
              <a:rPr lang="en-US" i="1" dirty="0"/>
              <a:t>Load Raw Signal</a:t>
            </a:r>
          </a:p>
          <a:p>
            <a:r>
              <a:rPr lang="en-US" dirty="0"/>
              <a:t>Select the </a:t>
            </a:r>
            <a:r>
              <a:rPr lang="en-US" i="1" dirty="0"/>
              <a:t>.</a:t>
            </a:r>
            <a:r>
              <a:rPr lang="en-US" i="1" dirty="0" err="1"/>
              <a:t>dat</a:t>
            </a:r>
            <a:r>
              <a:rPr lang="en-US" i="1" dirty="0"/>
              <a:t> </a:t>
            </a:r>
            <a:r>
              <a:rPr lang="en-US" dirty="0"/>
              <a:t>file to analyze</a:t>
            </a:r>
          </a:p>
          <a:p>
            <a:r>
              <a:rPr lang="en-US" dirty="0"/>
              <a:t>Adjust amplitude (optional)</a:t>
            </a:r>
          </a:p>
        </p:txBody>
      </p:sp>
      <p:pic>
        <p:nvPicPr>
          <p:cNvPr id="5" name="Picture 4">
            <a:extLst>
              <a:ext uri="{FF2B5EF4-FFF2-40B4-BE49-F238E27FC236}">
                <a16:creationId xmlns:a16="http://schemas.microsoft.com/office/drawing/2014/main" id="{C2339EB4-FE6A-BBFC-7522-5DD4EC69FA20}"/>
              </a:ext>
            </a:extLst>
          </p:cNvPr>
          <p:cNvPicPr>
            <a:picLocks noChangeAspect="1"/>
          </p:cNvPicPr>
          <p:nvPr/>
        </p:nvPicPr>
        <p:blipFill>
          <a:blip r:embed="rId2"/>
          <a:stretch>
            <a:fillRect/>
          </a:stretch>
        </p:blipFill>
        <p:spPr>
          <a:xfrm>
            <a:off x="6294121" y="1825625"/>
            <a:ext cx="5511822" cy="1918177"/>
          </a:xfrm>
          <a:prstGeom prst="rect">
            <a:avLst/>
          </a:prstGeom>
        </p:spPr>
      </p:pic>
      <p:cxnSp>
        <p:nvCxnSpPr>
          <p:cNvPr id="6" name="Straight Arrow Connector 5">
            <a:extLst>
              <a:ext uri="{FF2B5EF4-FFF2-40B4-BE49-F238E27FC236}">
                <a16:creationId xmlns:a16="http://schemas.microsoft.com/office/drawing/2014/main" id="{1550D896-D652-D070-5640-1083D5C975C4}"/>
              </a:ext>
            </a:extLst>
          </p:cNvPr>
          <p:cNvCxnSpPr>
            <a:cxnSpLocks/>
          </p:cNvCxnSpPr>
          <p:nvPr/>
        </p:nvCxnSpPr>
        <p:spPr>
          <a:xfrm>
            <a:off x="5353050" y="2105581"/>
            <a:ext cx="1323975"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nvGrpSpPr>
          <p:cNvPr id="19" name="Group 18">
            <a:extLst>
              <a:ext uri="{FF2B5EF4-FFF2-40B4-BE49-F238E27FC236}">
                <a16:creationId xmlns:a16="http://schemas.microsoft.com/office/drawing/2014/main" id="{59591E09-5FC5-E390-1A6E-86F30FDC417F}"/>
              </a:ext>
            </a:extLst>
          </p:cNvPr>
          <p:cNvGrpSpPr/>
          <p:nvPr/>
        </p:nvGrpSpPr>
        <p:grpSpPr>
          <a:xfrm>
            <a:off x="2036783" y="4393723"/>
            <a:ext cx="7722195" cy="1918177"/>
            <a:chOff x="5484637" y="1656640"/>
            <a:chExt cx="6768080" cy="1681177"/>
          </a:xfrm>
        </p:grpSpPr>
        <p:pic>
          <p:nvPicPr>
            <p:cNvPr id="20" name="Picture 19">
              <a:extLst>
                <a:ext uri="{FF2B5EF4-FFF2-40B4-BE49-F238E27FC236}">
                  <a16:creationId xmlns:a16="http://schemas.microsoft.com/office/drawing/2014/main" id="{91ACF165-046D-F346-4C4E-E3CD538DB322}"/>
                </a:ext>
              </a:extLst>
            </p:cNvPr>
            <p:cNvPicPr>
              <a:picLocks noChangeAspect="1"/>
            </p:cNvPicPr>
            <p:nvPr/>
          </p:nvPicPr>
          <p:blipFill>
            <a:blip r:embed="rId3"/>
            <a:stretch>
              <a:fillRect/>
            </a:stretch>
          </p:blipFill>
          <p:spPr>
            <a:xfrm>
              <a:off x="5484637" y="1656640"/>
              <a:ext cx="6768080" cy="1116534"/>
            </a:xfrm>
            <a:prstGeom prst="rect">
              <a:avLst/>
            </a:prstGeom>
          </p:spPr>
        </p:pic>
        <p:sp>
          <p:nvSpPr>
            <p:cNvPr id="21" name="Content Placeholder 2">
              <a:extLst>
                <a:ext uri="{FF2B5EF4-FFF2-40B4-BE49-F238E27FC236}">
                  <a16:creationId xmlns:a16="http://schemas.microsoft.com/office/drawing/2014/main" id="{FAFD7CDD-4428-23ED-F7BE-66D0F3B806DA}"/>
                </a:ext>
              </a:extLst>
            </p:cNvPr>
            <p:cNvSpPr txBox="1">
              <a:spLocks/>
            </p:cNvSpPr>
            <p:nvPr/>
          </p:nvSpPr>
          <p:spPr>
            <a:xfrm>
              <a:off x="5996810" y="2908109"/>
              <a:ext cx="5743733" cy="4297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Sample signal loaded into nVision</a:t>
              </a:r>
              <a:endParaRPr lang="en-US" b="1" dirty="0"/>
            </a:p>
          </p:txBody>
        </p:sp>
      </p:grpSp>
    </p:spTree>
    <p:extLst>
      <p:ext uri="{BB962C8B-B14F-4D97-AF65-F5344CB8AC3E}">
        <p14:creationId xmlns:p14="http://schemas.microsoft.com/office/powerpoint/2010/main" val="4157734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27B0E-2709-FB3E-3AF9-24BC0000ABC6}"/>
              </a:ext>
            </a:extLst>
          </p:cNvPr>
          <p:cNvSpPr>
            <a:spLocks noGrp="1"/>
          </p:cNvSpPr>
          <p:nvPr>
            <p:ph type="title"/>
          </p:nvPr>
        </p:nvSpPr>
        <p:spPr/>
        <p:txBody>
          <a:bodyPr/>
          <a:lstStyle/>
          <a:p>
            <a:r>
              <a:rPr lang="en-US" dirty="0"/>
              <a:t>Select feature folder</a:t>
            </a:r>
            <a:endParaRPr lang="en-CA" dirty="0"/>
          </a:p>
        </p:txBody>
      </p:sp>
      <p:sp>
        <p:nvSpPr>
          <p:cNvPr id="3" name="Content Placeholder 2">
            <a:extLst>
              <a:ext uri="{FF2B5EF4-FFF2-40B4-BE49-F238E27FC236}">
                <a16:creationId xmlns:a16="http://schemas.microsoft.com/office/drawing/2014/main" id="{3E11562E-FB92-718F-5CFB-E1E7273F5F47}"/>
              </a:ext>
            </a:extLst>
          </p:cNvPr>
          <p:cNvSpPr>
            <a:spLocks noGrp="1"/>
          </p:cNvSpPr>
          <p:nvPr>
            <p:ph idx="1"/>
          </p:nvPr>
        </p:nvSpPr>
        <p:spPr>
          <a:xfrm>
            <a:off x="838200" y="1825625"/>
            <a:ext cx="6111240" cy="4351338"/>
          </a:xfrm>
        </p:spPr>
        <p:txBody>
          <a:bodyPr/>
          <a:lstStyle/>
          <a:p>
            <a:r>
              <a:rPr lang="en-US" dirty="0"/>
              <a:t>Click </a:t>
            </a:r>
            <a:r>
              <a:rPr lang="en-US" i="1" dirty="0"/>
              <a:t>Select Feature Folder</a:t>
            </a:r>
            <a:endParaRPr lang="en-US" dirty="0"/>
          </a:p>
          <a:p>
            <a:r>
              <a:rPr lang="en-US" dirty="0"/>
              <a:t>Create a new folder then select it</a:t>
            </a:r>
          </a:p>
          <a:p>
            <a:r>
              <a:rPr lang="en-US" dirty="0"/>
              <a:t>Click </a:t>
            </a:r>
            <a:r>
              <a:rPr lang="en-US" i="1" dirty="0"/>
              <a:t>Calculate Features</a:t>
            </a:r>
          </a:p>
          <a:p>
            <a:r>
              <a:rPr lang="en-US" dirty="0"/>
              <a:t>This step might take some time </a:t>
            </a:r>
          </a:p>
          <a:p>
            <a:r>
              <a:rPr lang="en-US" dirty="0"/>
              <a:t>A pop-up will appear when its completed</a:t>
            </a:r>
            <a:endParaRPr lang="en-CA" dirty="0"/>
          </a:p>
        </p:txBody>
      </p:sp>
      <p:pic>
        <p:nvPicPr>
          <p:cNvPr id="5" name="Picture 4">
            <a:extLst>
              <a:ext uri="{FF2B5EF4-FFF2-40B4-BE49-F238E27FC236}">
                <a16:creationId xmlns:a16="http://schemas.microsoft.com/office/drawing/2014/main" id="{507A622A-427E-7270-6B14-2D596D4C5DC4}"/>
              </a:ext>
            </a:extLst>
          </p:cNvPr>
          <p:cNvPicPr>
            <a:picLocks noChangeAspect="1"/>
          </p:cNvPicPr>
          <p:nvPr/>
        </p:nvPicPr>
        <p:blipFill>
          <a:blip r:embed="rId2"/>
          <a:stretch>
            <a:fillRect/>
          </a:stretch>
        </p:blipFill>
        <p:spPr>
          <a:xfrm>
            <a:off x="7683990" y="1825625"/>
            <a:ext cx="3669810" cy="1921731"/>
          </a:xfrm>
          <a:prstGeom prst="rect">
            <a:avLst/>
          </a:prstGeom>
        </p:spPr>
      </p:pic>
      <p:pic>
        <p:nvPicPr>
          <p:cNvPr id="9" name="Picture 8">
            <a:extLst>
              <a:ext uri="{FF2B5EF4-FFF2-40B4-BE49-F238E27FC236}">
                <a16:creationId xmlns:a16="http://schemas.microsoft.com/office/drawing/2014/main" id="{A9C49CB1-24B7-50A7-B6B0-B8502CD7945D}"/>
              </a:ext>
            </a:extLst>
          </p:cNvPr>
          <p:cNvPicPr>
            <a:picLocks noChangeAspect="1"/>
          </p:cNvPicPr>
          <p:nvPr/>
        </p:nvPicPr>
        <p:blipFill>
          <a:blip r:embed="rId3"/>
          <a:stretch>
            <a:fillRect/>
          </a:stretch>
        </p:blipFill>
        <p:spPr>
          <a:xfrm>
            <a:off x="7627996" y="4085919"/>
            <a:ext cx="3740672" cy="1434124"/>
          </a:xfrm>
          <a:prstGeom prst="rect">
            <a:avLst/>
          </a:prstGeom>
        </p:spPr>
      </p:pic>
    </p:spTree>
    <p:extLst>
      <p:ext uri="{BB962C8B-B14F-4D97-AF65-F5344CB8AC3E}">
        <p14:creationId xmlns:p14="http://schemas.microsoft.com/office/powerpoint/2010/main" val="3185029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567F-9304-2467-1896-26FD19C5B2D5}"/>
              </a:ext>
            </a:extLst>
          </p:cNvPr>
          <p:cNvSpPr>
            <a:spLocks noGrp="1"/>
          </p:cNvSpPr>
          <p:nvPr>
            <p:ph type="title"/>
          </p:nvPr>
        </p:nvSpPr>
        <p:spPr/>
        <p:txBody>
          <a:bodyPr/>
          <a:lstStyle/>
          <a:p>
            <a:r>
              <a:rPr lang="en-US" dirty="0"/>
              <a:t>Loading signal and calculating features</a:t>
            </a:r>
            <a:endParaRPr lang="en-CA" dirty="0"/>
          </a:p>
        </p:txBody>
      </p:sp>
      <p:pic>
        <p:nvPicPr>
          <p:cNvPr id="4" name="Load data">
            <a:hlinkClick r:id="" action="ppaction://media"/>
            <a:extLst>
              <a:ext uri="{FF2B5EF4-FFF2-40B4-BE49-F238E27FC236}">
                <a16:creationId xmlns:a16="http://schemas.microsoft.com/office/drawing/2014/main" id="{3C57D884-4969-4564-059C-DD546CB24773}"/>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068513" y="1825625"/>
            <a:ext cx="8054975" cy="4351338"/>
          </a:xfrm>
        </p:spPr>
      </p:pic>
    </p:spTree>
    <p:extLst>
      <p:ext uri="{BB962C8B-B14F-4D97-AF65-F5344CB8AC3E}">
        <p14:creationId xmlns:p14="http://schemas.microsoft.com/office/powerpoint/2010/main" val="1953802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904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7A66B-50DE-3FB8-4F5E-38E8DFA8DFC4}"/>
              </a:ext>
            </a:extLst>
          </p:cNvPr>
          <p:cNvSpPr>
            <a:spLocks noGrp="1"/>
          </p:cNvSpPr>
          <p:nvPr>
            <p:ph type="title"/>
          </p:nvPr>
        </p:nvSpPr>
        <p:spPr/>
        <p:txBody>
          <a:bodyPr/>
          <a:lstStyle/>
          <a:p>
            <a:r>
              <a:rPr lang="en-US" dirty="0"/>
              <a:t>Data viewer</a:t>
            </a:r>
            <a:endParaRPr lang="en-CA" dirty="0"/>
          </a:p>
        </p:txBody>
      </p:sp>
      <p:sp>
        <p:nvSpPr>
          <p:cNvPr id="3" name="Content Placeholder 2">
            <a:extLst>
              <a:ext uri="{FF2B5EF4-FFF2-40B4-BE49-F238E27FC236}">
                <a16:creationId xmlns:a16="http://schemas.microsoft.com/office/drawing/2014/main" id="{41747718-0F1F-D5AB-C703-395568DDF38C}"/>
              </a:ext>
            </a:extLst>
          </p:cNvPr>
          <p:cNvSpPr>
            <a:spLocks noGrp="1"/>
          </p:cNvSpPr>
          <p:nvPr>
            <p:ph idx="1"/>
          </p:nvPr>
        </p:nvSpPr>
        <p:spPr>
          <a:xfrm>
            <a:off x="838200" y="1825625"/>
            <a:ext cx="7035800" cy="4351338"/>
          </a:xfrm>
        </p:spPr>
        <p:txBody>
          <a:bodyPr>
            <a:normAutofit fontScale="85000" lnSpcReduction="20000"/>
          </a:bodyPr>
          <a:lstStyle/>
          <a:p>
            <a:pPr marL="0" indent="0">
              <a:buNone/>
            </a:pPr>
            <a:r>
              <a:rPr lang="en-US" dirty="0"/>
              <a:t>The data can be viewed to inspect model output and signal derived features. </a:t>
            </a:r>
          </a:p>
          <a:p>
            <a:pPr marL="0" indent="0">
              <a:buNone/>
            </a:pPr>
            <a:r>
              <a:rPr lang="en-US" dirty="0"/>
              <a:t>The following options are available:</a:t>
            </a:r>
          </a:p>
          <a:p>
            <a:r>
              <a:rPr lang="en-US" b="1" dirty="0"/>
              <a:t>Display ANN output</a:t>
            </a:r>
            <a:r>
              <a:rPr lang="en-US" dirty="0"/>
              <a:t>: Displays the ANN score for the selected data segment</a:t>
            </a:r>
          </a:p>
          <a:p>
            <a:r>
              <a:rPr lang="en-US" b="1" dirty="0"/>
              <a:t>Feature Plot</a:t>
            </a:r>
            <a:r>
              <a:rPr lang="en-US" dirty="0"/>
              <a:t>: Shows the individual features contributing to the ANN score</a:t>
            </a:r>
          </a:p>
          <a:p>
            <a:r>
              <a:rPr lang="en-CA" b="1" dirty="0"/>
              <a:t>Feature Image</a:t>
            </a:r>
            <a:r>
              <a:rPr lang="en-CA" dirty="0"/>
              <a:t>: Visualizes the features as a spectrogram</a:t>
            </a:r>
          </a:p>
          <a:p>
            <a:r>
              <a:rPr lang="en-CA" b="1" dirty="0"/>
              <a:t>Power Analysis</a:t>
            </a:r>
            <a:r>
              <a:rPr lang="en-CA" dirty="0"/>
              <a:t>: Displays the signal power spectral distribution</a:t>
            </a:r>
          </a:p>
          <a:p>
            <a:r>
              <a:rPr lang="en-CA" b="1" dirty="0"/>
              <a:t>Display Spectrum</a:t>
            </a:r>
            <a:r>
              <a:rPr lang="en-CA" dirty="0"/>
              <a:t>: Spectrogram of the signal segment</a:t>
            </a:r>
          </a:p>
        </p:txBody>
      </p:sp>
      <p:pic>
        <p:nvPicPr>
          <p:cNvPr id="6" name="Picture 5">
            <a:extLst>
              <a:ext uri="{FF2B5EF4-FFF2-40B4-BE49-F238E27FC236}">
                <a16:creationId xmlns:a16="http://schemas.microsoft.com/office/drawing/2014/main" id="{31890370-648E-36E8-CC28-BAFE649E1F5D}"/>
              </a:ext>
            </a:extLst>
          </p:cNvPr>
          <p:cNvPicPr>
            <a:picLocks noChangeAspect="1"/>
          </p:cNvPicPr>
          <p:nvPr/>
        </p:nvPicPr>
        <p:blipFill>
          <a:blip r:embed="rId2"/>
          <a:srcRect r="43664"/>
          <a:stretch>
            <a:fillRect/>
          </a:stretch>
        </p:blipFill>
        <p:spPr>
          <a:xfrm>
            <a:off x="8245467" y="2381675"/>
            <a:ext cx="3108333" cy="2770645"/>
          </a:xfrm>
          <a:prstGeom prst="rect">
            <a:avLst/>
          </a:prstGeom>
        </p:spPr>
      </p:pic>
    </p:spTree>
    <p:extLst>
      <p:ext uri="{BB962C8B-B14F-4D97-AF65-F5344CB8AC3E}">
        <p14:creationId xmlns:p14="http://schemas.microsoft.com/office/powerpoint/2010/main" val="1346709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C3393-73B9-E593-1CA9-6364C08B6F1D}"/>
              </a:ext>
            </a:extLst>
          </p:cNvPr>
          <p:cNvSpPr>
            <a:spLocks noGrp="1"/>
          </p:cNvSpPr>
          <p:nvPr>
            <p:ph type="title"/>
          </p:nvPr>
        </p:nvSpPr>
        <p:spPr/>
        <p:txBody>
          <a:bodyPr/>
          <a:lstStyle/>
          <a:p>
            <a:r>
              <a:rPr lang="en-US" dirty="0"/>
              <a:t>Data viewer</a:t>
            </a:r>
            <a:endParaRPr lang="en-CA" dirty="0"/>
          </a:p>
        </p:txBody>
      </p:sp>
      <p:pic>
        <p:nvPicPr>
          <p:cNvPr id="4" name="nVision Data Viewer">
            <a:hlinkClick r:id="" action="ppaction://media"/>
            <a:extLst>
              <a:ext uri="{FF2B5EF4-FFF2-40B4-BE49-F238E27FC236}">
                <a16:creationId xmlns:a16="http://schemas.microsoft.com/office/drawing/2014/main" id="{03361944-DD95-A6FB-FCC3-191AB565879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000623" y="1825625"/>
            <a:ext cx="8190754" cy="4351338"/>
          </a:xfrm>
          <a:prstGeom prst="rect">
            <a:avLst/>
          </a:prstGeom>
        </p:spPr>
      </p:pic>
    </p:spTree>
    <p:extLst>
      <p:ext uri="{BB962C8B-B14F-4D97-AF65-F5344CB8AC3E}">
        <p14:creationId xmlns:p14="http://schemas.microsoft.com/office/powerpoint/2010/main" val="1792668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334"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37DF0-3F99-1B9A-1367-71E583759E80}"/>
              </a:ext>
            </a:extLst>
          </p:cNvPr>
          <p:cNvSpPr>
            <a:spLocks noGrp="1"/>
          </p:cNvSpPr>
          <p:nvPr>
            <p:ph type="title"/>
          </p:nvPr>
        </p:nvSpPr>
        <p:spPr/>
        <p:txBody>
          <a:bodyPr/>
          <a:lstStyle/>
          <a:p>
            <a:r>
              <a:rPr lang="en-US" dirty="0"/>
              <a:t>Selecting a quiet zone</a:t>
            </a:r>
            <a:endParaRPr lang="en-CA" dirty="0"/>
          </a:p>
        </p:txBody>
      </p:sp>
      <p:sp>
        <p:nvSpPr>
          <p:cNvPr id="3" name="Content Placeholder 2">
            <a:extLst>
              <a:ext uri="{FF2B5EF4-FFF2-40B4-BE49-F238E27FC236}">
                <a16:creationId xmlns:a16="http://schemas.microsoft.com/office/drawing/2014/main" id="{56FFCFA7-FFC0-FC9B-AA9B-5860B0BC4E46}"/>
              </a:ext>
            </a:extLst>
          </p:cNvPr>
          <p:cNvSpPr>
            <a:spLocks noGrp="1"/>
          </p:cNvSpPr>
          <p:nvPr>
            <p:ph idx="1"/>
          </p:nvPr>
        </p:nvSpPr>
        <p:spPr>
          <a:xfrm>
            <a:off x="838200" y="1825625"/>
            <a:ext cx="5257800" cy="4351338"/>
          </a:xfrm>
        </p:spPr>
        <p:txBody>
          <a:bodyPr>
            <a:normAutofit fontScale="92500" lnSpcReduction="20000"/>
          </a:bodyPr>
          <a:lstStyle/>
          <a:p>
            <a:r>
              <a:rPr lang="en-US" dirty="0"/>
              <a:t>Use the buttons on the bottom or the inputs on the right to navigate to a quiet zone.</a:t>
            </a:r>
          </a:p>
          <a:p>
            <a:r>
              <a:rPr lang="en-US" dirty="0"/>
              <a:t>The quiet zone should represent a segment in the recording where there isn’t epileptiform activity and little noise.</a:t>
            </a:r>
          </a:p>
          <a:p>
            <a:r>
              <a:rPr lang="en-US" dirty="0"/>
              <a:t>The features of this zone will be used to characterize the individual recording and detect seizure like events (helps to normalize for the noise level in each specific recording).</a:t>
            </a:r>
          </a:p>
          <a:p>
            <a:endParaRPr lang="en-US" dirty="0"/>
          </a:p>
        </p:txBody>
      </p:sp>
      <p:pic>
        <p:nvPicPr>
          <p:cNvPr id="5" name="Picture 4">
            <a:extLst>
              <a:ext uri="{FF2B5EF4-FFF2-40B4-BE49-F238E27FC236}">
                <a16:creationId xmlns:a16="http://schemas.microsoft.com/office/drawing/2014/main" id="{FD7371CD-8A6B-2069-6F72-B328097322E6}"/>
              </a:ext>
            </a:extLst>
          </p:cNvPr>
          <p:cNvPicPr>
            <a:picLocks noChangeAspect="1"/>
          </p:cNvPicPr>
          <p:nvPr/>
        </p:nvPicPr>
        <p:blipFill>
          <a:blip r:embed="rId2"/>
          <a:stretch>
            <a:fillRect/>
          </a:stretch>
        </p:blipFill>
        <p:spPr>
          <a:xfrm>
            <a:off x="6140742" y="1690688"/>
            <a:ext cx="4991570" cy="432752"/>
          </a:xfrm>
          <a:prstGeom prst="rect">
            <a:avLst/>
          </a:prstGeom>
        </p:spPr>
      </p:pic>
      <p:pic>
        <p:nvPicPr>
          <p:cNvPr id="7" name="Picture 6">
            <a:extLst>
              <a:ext uri="{FF2B5EF4-FFF2-40B4-BE49-F238E27FC236}">
                <a16:creationId xmlns:a16="http://schemas.microsoft.com/office/drawing/2014/main" id="{6BBF6D9B-7F1B-041F-94EB-B0AB36F0E810}"/>
              </a:ext>
            </a:extLst>
          </p:cNvPr>
          <p:cNvPicPr>
            <a:picLocks noChangeAspect="1"/>
          </p:cNvPicPr>
          <p:nvPr/>
        </p:nvPicPr>
        <p:blipFill>
          <a:blip r:embed="rId3"/>
          <a:stretch>
            <a:fillRect/>
          </a:stretch>
        </p:blipFill>
        <p:spPr>
          <a:xfrm>
            <a:off x="6096000" y="2763169"/>
            <a:ext cx="2416973" cy="2971108"/>
          </a:xfrm>
          <a:prstGeom prst="rect">
            <a:avLst/>
          </a:prstGeom>
        </p:spPr>
      </p:pic>
      <p:sp>
        <p:nvSpPr>
          <p:cNvPr id="4" name="Content Placeholder 2">
            <a:extLst>
              <a:ext uri="{FF2B5EF4-FFF2-40B4-BE49-F238E27FC236}">
                <a16:creationId xmlns:a16="http://schemas.microsoft.com/office/drawing/2014/main" id="{9889EC25-825F-9FB0-520E-0CA9B90FFACD}"/>
              </a:ext>
            </a:extLst>
          </p:cNvPr>
          <p:cNvSpPr txBox="1">
            <a:spLocks/>
          </p:cNvSpPr>
          <p:nvPr/>
        </p:nvSpPr>
        <p:spPr>
          <a:xfrm>
            <a:off x="8934722" y="3224046"/>
            <a:ext cx="2190750" cy="212441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GUI elements used to navigate the recording</a:t>
            </a:r>
          </a:p>
        </p:txBody>
      </p:sp>
      <p:cxnSp>
        <p:nvCxnSpPr>
          <p:cNvPr id="6" name="Straight Arrow Connector 5">
            <a:extLst>
              <a:ext uri="{FF2B5EF4-FFF2-40B4-BE49-F238E27FC236}">
                <a16:creationId xmlns:a16="http://schemas.microsoft.com/office/drawing/2014/main" id="{FAB63131-F229-CD98-5A48-13F6E1F9DA05}"/>
              </a:ext>
            </a:extLst>
          </p:cNvPr>
          <p:cNvCxnSpPr>
            <a:cxnSpLocks/>
          </p:cNvCxnSpPr>
          <p:nvPr/>
        </p:nvCxnSpPr>
        <p:spPr>
          <a:xfrm flipH="1" flipV="1">
            <a:off x="8907853" y="2248295"/>
            <a:ext cx="566602" cy="97575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0BC31D6F-BDB9-BB38-54AB-AD9B0609AC25}"/>
              </a:ext>
            </a:extLst>
          </p:cNvPr>
          <p:cNvCxnSpPr>
            <a:cxnSpLocks/>
          </p:cNvCxnSpPr>
          <p:nvPr/>
        </p:nvCxnSpPr>
        <p:spPr>
          <a:xfrm flipH="1" flipV="1">
            <a:off x="8636527" y="3348901"/>
            <a:ext cx="542653" cy="80099"/>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6272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479AC-022C-3587-42E9-E5B886A4861B}"/>
              </a:ext>
            </a:extLst>
          </p:cNvPr>
          <p:cNvSpPr>
            <a:spLocks noGrp="1"/>
          </p:cNvSpPr>
          <p:nvPr>
            <p:ph type="title"/>
          </p:nvPr>
        </p:nvSpPr>
        <p:spPr/>
        <p:txBody>
          <a:bodyPr/>
          <a:lstStyle/>
          <a:p>
            <a:r>
              <a:rPr lang="en-US" dirty="0"/>
              <a:t>The ANN score can help identify a quiet zone</a:t>
            </a:r>
            <a:endParaRPr lang="en-CA" dirty="0"/>
          </a:p>
        </p:txBody>
      </p:sp>
      <p:sp>
        <p:nvSpPr>
          <p:cNvPr id="3" name="Content Placeholder 2">
            <a:extLst>
              <a:ext uri="{FF2B5EF4-FFF2-40B4-BE49-F238E27FC236}">
                <a16:creationId xmlns:a16="http://schemas.microsoft.com/office/drawing/2014/main" id="{C63331E5-ACD6-B7F1-C598-F8FF2AF71505}"/>
              </a:ext>
            </a:extLst>
          </p:cNvPr>
          <p:cNvSpPr>
            <a:spLocks noGrp="1"/>
          </p:cNvSpPr>
          <p:nvPr>
            <p:ph idx="1"/>
          </p:nvPr>
        </p:nvSpPr>
        <p:spPr>
          <a:xfrm>
            <a:off x="838200" y="1825625"/>
            <a:ext cx="5257800" cy="4351338"/>
          </a:xfrm>
        </p:spPr>
        <p:txBody>
          <a:bodyPr/>
          <a:lstStyle/>
          <a:p>
            <a:r>
              <a:rPr lang="en-US" dirty="0"/>
              <a:t>Click </a:t>
            </a:r>
            <a:r>
              <a:rPr lang="en-US" i="1" dirty="0"/>
              <a:t>ANN Output</a:t>
            </a:r>
          </a:p>
          <a:p>
            <a:r>
              <a:rPr lang="en-US" dirty="0"/>
              <a:t>This will display the ANN output in the GUI</a:t>
            </a:r>
          </a:p>
          <a:p>
            <a:r>
              <a:rPr lang="en-US" dirty="0"/>
              <a:t>A quiet zone will have relatively low ANN score throughout the quiet zone segment</a:t>
            </a:r>
            <a:endParaRPr lang="en-CA" dirty="0"/>
          </a:p>
        </p:txBody>
      </p:sp>
      <p:pic>
        <p:nvPicPr>
          <p:cNvPr id="7" name="Picture 6">
            <a:extLst>
              <a:ext uri="{FF2B5EF4-FFF2-40B4-BE49-F238E27FC236}">
                <a16:creationId xmlns:a16="http://schemas.microsoft.com/office/drawing/2014/main" id="{97F8776D-488E-470E-40F9-41E831D045AC}"/>
              </a:ext>
            </a:extLst>
          </p:cNvPr>
          <p:cNvPicPr>
            <a:picLocks noChangeAspect="1"/>
          </p:cNvPicPr>
          <p:nvPr/>
        </p:nvPicPr>
        <p:blipFill>
          <a:blip r:embed="rId2"/>
          <a:stretch>
            <a:fillRect/>
          </a:stretch>
        </p:blipFill>
        <p:spPr>
          <a:xfrm>
            <a:off x="6247681" y="2086239"/>
            <a:ext cx="5153744" cy="2067213"/>
          </a:xfrm>
          <a:prstGeom prst="rect">
            <a:avLst/>
          </a:prstGeom>
        </p:spPr>
      </p:pic>
      <p:cxnSp>
        <p:nvCxnSpPr>
          <p:cNvPr id="8" name="Straight Arrow Connector 7">
            <a:extLst>
              <a:ext uri="{FF2B5EF4-FFF2-40B4-BE49-F238E27FC236}">
                <a16:creationId xmlns:a16="http://schemas.microsoft.com/office/drawing/2014/main" id="{04DF65EA-CAE8-D5D7-6523-BDB7EAD0F24B}"/>
              </a:ext>
            </a:extLst>
          </p:cNvPr>
          <p:cNvCxnSpPr>
            <a:cxnSpLocks/>
          </p:cNvCxnSpPr>
          <p:nvPr/>
        </p:nvCxnSpPr>
        <p:spPr>
          <a:xfrm>
            <a:off x="9039225" y="1690688"/>
            <a:ext cx="514350" cy="52863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id="{D662121D-A296-7E6F-AE59-6B8F61DCFA34}"/>
              </a:ext>
            </a:extLst>
          </p:cNvPr>
          <p:cNvPicPr>
            <a:picLocks noChangeAspect="1"/>
          </p:cNvPicPr>
          <p:nvPr/>
        </p:nvPicPr>
        <p:blipFill>
          <a:blip r:embed="rId3"/>
          <a:stretch>
            <a:fillRect/>
          </a:stretch>
        </p:blipFill>
        <p:spPr>
          <a:xfrm>
            <a:off x="1661656" y="4890204"/>
            <a:ext cx="8868688" cy="843052"/>
          </a:xfrm>
          <a:prstGeom prst="rect">
            <a:avLst/>
          </a:prstGeom>
        </p:spPr>
      </p:pic>
      <p:sp>
        <p:nvSpPr>
          <p:cNvPr id="14" name="Content Placeholder 2">
            <a:extLst>
              <a:ext uri="{FF2B5EF4-FFF2-40B4-BE49-F238E27FC236}">
                <a16:creationId xmlns:a16="http://schemas.microsoft.com/office/drawing/2014/main" id="{2E41A1FE-0D24-1F87-A64E-3DB83691C1AA}"/>
              </a:ext>
            </a:extLst>
          </p:cNvPr>
          <p:cNvSpPr txBox="1">
            <a:spLocks/>
          </p:cNvSpPr>
          <p:nvPr/>
        </p:nvSpPr>
        <p:spPr>
          <a:xfrm>
            <a:off x="3224134" y="5868193"/>
            <a:ext cx="5743733" cy="8810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Sample quiet zone with low ANN</a:t>
            </a:r>
            <a:endParaRPr lang="en-US" b="1" dirty="0"/>
          </a:p>
        </p:txBody>
      </p:sp>
    </p:spTree>
    <p:extLst>
      <p:ext uri="{BB962C8B-B14F-4D97-AF65-F5344CB8AC3E}">
        <p14:creationId xmlns:p14="http://schemas.microsoft.com/office/powerpoint/2010/main" val="2457428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33C1D-834C-3761-E706-DFF7EE20E217}"/>
              </a:ext>
            </a:extLst>
          </p:cNvPr>
          <p:cNvSpPr>
            <a:spLocks noGrp="1"/>
          </p:cNvSpPr>
          <p:nvPr>
            <p:ph type="title"/>
          </p:nvPr>
        </p:nvSpPr>
        <p:spPr/>
        <p:txBody>
          <a:bodyPr/>
          <a:lstStyle/>
          <a:p>
            <a:r>
              <a:rPr lang="en-US" dirty="0"/>
              <a:t>Detecting seizure like events</a:t>
            </a:r>
            <a:endParaRPr lang="en-CA" dirty="0"/>
          </a:p>
        </p:txBody>
      </p:sp>
      <p:sp>
        <p:nvSpPr>
          <p:cNvPr id="3" name="Content Placeholder 2">
            <a:extLst>
              <a:ext uri="{FF2B5EF4-FFF2-40B4-BE49-F238E27FC236}">
                <a16:creationId xmlns:a16="http://schemas.microsoft.com/office/drawing/2014/main" id="{CE50E5D4-04C7-EDA0-FA07-98FD4EF6B010}"/>
              </a:ext>
            </a:extLst>
          </p:cNvPr>
          <p:cNvSpPr>
            <a:spLocks noGrp="1"/>
          </p:cNvSpPr>
          <p:nvPr>
            <p:ph idx="1"/>
          </p:nvPr>
        </p:nvSpPr>
        <p:spPr>
          <a:xfrm>
            <a:off x="838200" y="1825625"/>
            <a:ext cx="5391150" cy="4351338"/>
          </a:xfrm>
        </p:spPr>
        <p:txBody>
          <a:bodyPr/>
          <a:lstStyle/>
          <a:p>
            <a:r>
              <a:rPr lang="en-US" dirty="0"/>
              <a:t>Once the quiet zone is selected, click </a:t>
            </a:r>
            <a:r>
              <a:rPr lang="en-US" i="1" dirty="0"/>
              <a:t>Classify Features</a:t>
            </a:r>
          </a:p>
          <a:p>
            <a:r>
              <a:rPr lang="en-US" dirty="0"/>
              <a:t>nVision will now look for seizure like events, using the quiet zone as reference for its ANN network</a:t>
            </a:r>
          </a:p>
          <a:p>
            <a:r>
              <a:rPr lang="en-US" dirty="0"/>
              <a:t>This step may take some time</a:t>
            </a:r>
          </a:p>
          <a:p>
            <a:r>
              <a:rPr lang="en-US" dirty="0"/>
              <a:t>A pop-up will appear when this step is done</a:t>
            </a:r>
            <a:endParaRPr lang="en-CA" dirty="0"/>
          </a:p>
        </p:txBody>
      </p:sp>
      <p:pic>
        <p:nvPicPr>
          <p:cNvPr id="9" name="Picture 8">
            <a:extLst>
              <a:ext uri="{FF2B5EF4-FFF2-40B4-BE49-F238E27FC236}">
                <a16:creationId xmlns:a16="http://schemas.microsoft.com/office/drawing/2014/main" id="{10FBDB7A-78D2-C960-717D-78E42C744984}"/>
              </a:ext>
            </a:extLst>
          </p:cNvPr>
          <p:cNvPicPr>
            <a:picLocks noChangeAspect="1"/>
          </p:cNvPicPr>
          <p:nvPr/>
        </p:nvPicPr>
        <p:blipFill>
          <a:blip r:embed="rId2"/>
          <a:stretch>
            <a:fillRect/>
          </a:stretch>
        </p:blipFill>
        <p:spPr>
          <a:xfrm>
            <a:off x="6395722" y="4572794"/>
            <a:ext cx="4525006" cy="1314633"/>
          </a:xfrm>
          <a:prstGeom prst="rect">
            <a:avLst/>
          </a:prstGeom>
        </p:spPr>
      </p:pic>
      <p:pic>
        <p:nvPicPr>
          <p:cNvPr id="5" name="Picture 4">
            <a:extLst>
              <a:ext uri="{FF2B5EF4-FFF2-40B4-BE49-F238E27FC236}">
                <a16:creationId xmlns:a16="http://schemas.microsoft.com/office/drawing/2014/main" id="{EA3A5C12-5C66-D9FD-3400-AEFE2E929659}"/>
              </a:ext>
            </a:extLst>
          </p:cNvPr>
          <p:cNvPicPr>
            <a:picLocks noChangeAspect="1"/>
          </p:cNvPicPr>
          <p:nvPr/>
        </p:nvPicPr>
        <p:blipFill>
          <a:blip r:embed="rId3"/>
          <a:stretch>
            <a:fillRect/>
          </a:stretch>
        </p:blipFill>
        <p:spPr>
          <a:xfrm>
            <a:off x="7072091" y="1542073"/>
            <a:ext cx="3172268" cy="2305372"/>
          </a:xfrm>
          <a:prstGeom prst="rect">
            <a:avLst/>
          </a:prstGeom>
        </p:spPr>
      </p:pic>
      <p:cxnSp>
        <p:nvCxnSpPr>
          <p:cNvPr id="6" name="Straight Arrow Connector 5">
            <a:extLst>
              <a:ext uri="{FF2B5EF4-FFF2-40B4-BE49-F238E27FC236}">
                <a16:creationId xmlns:a16="http://schemas.microsoft.com/office/drawing/2014/main" id="{76ED4AAD-EAF7-825E-A425-3138FCB19AEA}"/>
              </a:ext>
            </a:extLst>
          </p:cNvPr>
          <p:cNvCxnSpPr>
            <a:cxnSpLocks/>
          </p:cNvCxnSpPr>
          <p:nvPr/>
        </p:nvCxnSpPr>
        <p:spPr>
          <a:xfrm>
            <a:off x="6800850" y="3067050"/>
            <a:ext cx="590550" cy="30480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3142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302A1-4958-FEA9-F767-77C7A8D9B4EF}"/>
              </a:ext>
            </a:extLst>
          </p:cNvPr>
          <p:cNvSpPr>
            <a:spLocks noGrp="1"/>
          </p:cNvSpPr>
          <p:nvPr>
            <p:ph type="title"/>
          </p:nvPr>
        </p:nvSpPr>
        <p:spPr/>
        <p:txBody>
          <a:bodyPr/>
          <a:lstStyle/>
          <a:p>
            <a:r>
              <a:rPr lang="en-US" dirty="0"/>
              <a:t>Detecting seizure like events</a:t>
            </a:r>
            <a:endParaRPr lang="en-CA" dirty="0"/>
          </a:p>
        </p:txBody>
      </p:sp>
      <p:pic>
        <p:nvPicPr>
          <p:cNvPr id="9" name="Seizure Haunt">
            <a:hlinkClick r:id="" action="ppaction://media"/>
            <a:extLst>
              <a:ext uri="{FF2B5EF4-FFF2-40B4-BE49-F238E27FC236}">
                <a16:creationId xmlns:a16="http://schemas.microsoft.com/office/drawing/2014/main" id="{6E128E2D-D206-DED7-BD0A-07CECCB1A9B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227263" y="1825625"/>
            <a:ext cx="7735887" cy="4351338"/>
          </a:xfrm>
        </p:spPr>
      </p:pic>
    </p:spTree>
    <p:extLst>
      <p:ext uri="{BB962C8B-B14F-4D97-AF65-F5344CB8AC3E}">
        <p14:creationId xmlns:p14="http://schemas.microsoft.com/office/powerpoint/2010/main" val="122664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883"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3A043-1BF9-A18C-9C53-696F9F5FDC01}"/>
              </a:ext>
            </a:extLst>
          </p:cNvPr>
          <p:cNvSpPr>
            <a:spLocks noGrp="1"/>
          </p:cNvSpPr>
          <p:nvPr>
            <p:ph type="title"/>
          </p:nvPr>
        </p:nvSpPr>
        <p:spPr/>
        <p:txBody>
          <a:bodyPr/>
          <a:lstStyle/>
          <a:p>
            <a:r>
              <a:rPr lang="en-US" dirty="0"/>
              <a:t>Results</a:t>
            </a:r>
            <a:endParaRPr lang="en-CA" dirty="0"/>
          </a:p>
        </p:txBody>
      </p:sp>
      <p:sp>
        <p:nvSpPr>
          <p:cNvPr id="3" name="Content Placeholder 2">
            <a:extLst>
              <a:ext uri="{FF2B5EF4-FFF2-40B4-BE49-F238E27FC236}">
                <a16:creationId xmlns:a16="http://schemas.microsoft.com/office/drawing/2014/main" id="{E10BF561-F986-6274-E469-F34A2EB9F06A}"/>
              </a:ext>
            </a:extLst>
          </p:cNvPr>
          <p:cNvSpPr>
            <a:spLocks noGrp="1"/>
          </p:cNvSpPr>
          <p:nvPr>
            <p:ph idx="1"/>
          </p:nvPr>
        </p:nvSpPr>
        <p:spPr>
          <a:xfrm>
            <a:off x="838200" y="1825625"/>
            <a:ext cx="6257925" cy="4351338"/>
          </a:xfrm>
        </p:spPr>
        <p:txBody>
          <a:bodyPr>
            <a:normAutofit lnSpcReduction="10000"/>
          </a:bodyPr>
          <a:lstStyle/>
          <a:p>
            <a:r>
              <a:rPr lang="en-US" dirty="0"/>
              <a:t>Results are automatically saved as a .mat file in the same folder where the recording is stored</a:t>
            </a:r>
          </a:p>
          <a:p>
            <a:r>
              <a:rPr lang="en-US" dirty="0"/>
              <a:t>They also appear in the GUI</a:t>
            </a:r>
          </a:p>
          <a:p>
            <a:r>
              <a:rPr lang="en-US" dirty="0"/>
              <a:t>Clicking on the events will navigate the display to the detected event</a:t>
            </a:r>
          </a:p>
          <a:p>
            <a:r>
              <a:rPr lang="en-US" dirty="0"/>
              <a:t>Results can be marked or deleted within the GUI environment</a:t>
            </a:r>
          </a:p>
          <a:p>
            <a:r>
              <a:rPr lang="en-US" dirty="0"/>
              <a:t>Click </a:t>
            </a:r>
            <a:r>
              <a:rPr lang="en-US" i="1" dirty="0"/>
              <a:t>Save Results </a:t>
            </a:r>
            <a:r>
              <a:rPr lang="en-US" dirty="0"/>
              <a:t>to generate a new .mat file</a:t>
            </a:r>
            <a:endParaRPr lang="en-CA" dirty="0"/>
          </a:p>
        </p:txBody>
      </p:sp>
      <p:pic>
        <p:nvPicPr>
          <p:cNvPr id="5" name="Picture 4">
            <a:extLst>
              <a:ext uri="{FF2B5EF4-FFF2-40B4-BE49-F238E27FC236}">
                <a16:creationId xmlns:a16="http://schemas.microsoft.com/office/drawing/2014/main" id="{74767A46-F413-CDB1-C001-35586557EB79}"/>
              </a:ext>
            </a:extLst>
          </p:cNvPr>
          <p:cNvPicPr>
            <a:picLocks noChangeAspect="1"/>
          </p:cNvPicPr>
          <p:nvPr/>
        </p:nvPicPr>
        <p:blipFill>
          <a:blip r:embed="rId2"/>
          <a:stretch>
            <a:fillRect/>
          </a:stretch>
        </p:blipFill>
        <p:spPr>
          <a:xfrm>
            <a:off x="7451166" y="1825625"/>
            <a:ext cx="3458058" cy="2553056"/>
          </a:xfrm>
          <a:prstGeom prst="rect">
            <a:avLst/>
          </a:prstGeom>
        </p:spPr>
      </p:pic>
      <p:sp>
        <p:nvSpPr>
          <p:cNvPr id="4" name="Content Placeholder 2">
            <a:extLst>
              <a:ext uri="{FF2B5EF4-FFF2-40B4-BE49-F238E27FC236}">
                <a16:creationId xmlns:a16="http://schemas.microsoft.com/office/drawing/2014/main" id="{6240D5D1-D514-2191-D586-78DFE7ECB2E2}"/>
              </a:ext>
            </a:extLst>
          </p:cNvPr>
          <p:cNvSpPr txBox="1">
            <a:spLocks/>
          </p:cNvSpPr>
          <p:nvPr/>
        </p:nvSpPr>
        <p:spPr>
          <a:xfrm>
            <a:off x="7451166" y="4378681"/>
            <a:ext cx="3458058" cy="8981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Example seizure like events</a:t>
            </a:r>
          </a:p>
        </p:txBody>
      </p:sp>
    </p:spTree>
    <p:extLst>
      <p:ext uri="{BB962C8B-B14F-4D97-AF65-F5344CB8AC3E}">
        <p14:creationId xmlns:p14="http://schemas.microsoft.com/office/powerpoint/2010/main" val="1826028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513D8-4A7B-CD5C-43A7-5386F261F947}"/>
              </a:ext>
            </a:extLst>
          </p:cNvPr>
          <p:cNvSpPr>
            <a:spLocks noGrp="1"/>
          </p:cNvSpPr>
          <p:nvPr>
            <p:ph type="title"/>
          </p:nvPr>
        </p:nvSpPr>
        <p:spPr/>
        <p:txBody>
          <a:bodyPr>
            <a:normAutofit/>
          </a:bodyPr>
          <a:lstStyle/>
          <a:p>
            <a:r>
              <a:rPr lang="en-US" dirty="0"/>
              <a:t>Seizure Detection Criterion</a:t>
            </a:r>
            <a:endParaRPr lang="en-CA" dirty="0"/>
          </a:p>
        </p:txBody>
      </p:sp>
      <p:sp>
        <p:nvSpPr>
          <p:cNvPr id="3" name="Content Placeholder 2">
            <a:extLst>
              <a:ext uri="{FF2B5EF4-FFF2-40B4-BE49-F238E27FC236}">
                <a16:creationId xmlns:a16="http://schemas.microsoft.com/office/drawing/2014/main" id="{B92CED20-4295-CC87-CC19-DB3030B7B7F7}"/>
              </a:ext>
            </a:extLst>
          </p:cNvPr>
          <p:cNvSpPr>
            <a:spLocks noGrp="1"/>
          </p:cNvSpPr>
          <p:nvPr>
            <p:ph idx="1"/>
          </p:nvPr>
        </p:nvSpPr>
        <p:spPr>
          <a:xfrm>
            <a:off x="838200" y="1825625"/>
            <a:ext cx="5181539" cy="4351338"/>
          </a:xfrm>
        </p:spPr>
        <p:txBody>
          <a:bodyPr/>
          <a:lstStyle/>
          <a:p>
            <a:r>
              <a:rPr lang="en-US" dirty="0"/>
              <a:t>A seizure like event is detected when the ANN output exceeds the predefined ANN threshold for a specified minimum duration</a:t>
            </a:r>
            <a:endParaRPr lang="en-CA" dirty="0"/>
          </a:p>
        </p:txBody>
      </p:sp>
      <p:pic>
        <p:nvPicPr>
          <p:cNvPr id="5" name="Picture 4">
            <a:extLst>
              <a:ext uri="{FF2B5EF4-FFF2-40B4-BE49-F238E27FC236}">
                <a16:creationId xmlns:a16="http://schemas.microsoft.com/office/drawing/2014/main" id="{172CFA45-E004-9530-666E-95828E4A6F4E}"/>
              </a:ext>
            </a:extLst>
          </p:cNvPr>
          <p:cNvPicPr>
            <a:picLocks noChangeAspect="1"/>
          </p:cNvPicPr>
          <p:nvPr/>
        </p:nvPicPr>
        <p:blipFill>
          <a:blip r:embed="rId2"/>
          <a:stretch>
            <a:fillRect/>
          </a:stretch>
        </p:blipFill>
        <p:spPr>
          <a:xfrm>
            <a:off x="6172261" y="1297882"/>
            <a:ext cx="5181539" cy="5406823"/>
          </a:xfrm>
          <a:prstGeom prst="rect">
            <a:avLst/>
          </a:prstGeom>
        </p:spPr>
      </p:pic>
    </p:spTree>
    <p:extLst>
      <p:ext uri="{BB962C8B-B14F-4D97-AF65-F5344CB8AC3E}">
        <p14:creationId xmlns:p14="http://schemas.microsoft.com/office/powerpoint/2010/main" val="2227617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EDF4A-8670-2308-D6E6-2056A9C225CE}"/>
              </a:ext>
            </a:extLst>
          </p:cNvPr>
          <p:cNvSpPr>
            <a:spLocks noGrp="1"/>
          </p:cNvSpPr>
          <p:nvPr>
            <p:ph type="title"/>
          </p:nvPr>
        </p:nvSpPr>
        <p:spPr/>
        <p:txBody>
          <a:bodyPr/>
          <a:lstStyle/>
          <a:p>
            <a:r>
              <a:rPr lang="en-US" dirty="0"/>
              <a:t>Troubleshooting</a:t>
            </a:r>
            <a:endParaRPr lang="en-CA" dirty="0"/>
          </a:p>
        </p:txBody>
      </p:sp>
      <p:sp>
        <p:nvSpPr>
          <p:cNvPr id="3" name="Content Placeholder 2">
            <a:extLst>
              <a:ext uri="{FF2B5EF4-FFF2-40B4-BE49-F238E27FC236}">
                <a16:creationId xmlns:a16="http://schemas.microsoft.com/office/drawing/2014/main" id="{B55A6226-1458-B83E-429E-D475A41148A3}"/>
              </a:ext>
            </a:extLst>
          </p:cNvPr>
          <p:cNvSpPr>
            <a:spLocks noGrp="1"/>
          </p:cNvSpPr>
          <p:nvPr>
            <p:ph idx="1"/>
          </p:nvPr>
        </p:nvSpPr>
        <p:spPr/>
        <p:txBody>
          <a:bodyPr>
            <a:normAutofit/>
          </a:bodyPr>
          <a:lstStyle/>
          <a:p>
            <a:r>
              <a:rPr lang="en-US" dirty="0"/>
              <a:t>nVision detects seizure-like events by comparing the quiet zone features to the rest of the recording using an artificial neural network</a:t>
            </a:r>
          </a:p>
          <a:p>
            <a:r>
              <a:rPr lang="en-US" dirty="0"/>
              <a:t>If no events were detected, try using a different quiet zone or adjusting features/thresholds of the algorithm</a:t>
            </a:r>
          </a:p>
          <a:p>
            <a:r>
              <a:rPr lang="en-US" dirty="0"/>
              <a:t>Algorithm features and thresholds can be adjusted using the menu bar at the top of the GUI</a:t>
            </a:r>
          </a:p>
        </p:txBody>
      </p:sp>
      <p:pic>
        <p:nvPicPr>
          <p:cNvPr id="5" name="Picture 4">
            <a:extLst>
              <a:ext uri="{FF2B5EF4-FFF2-40B4-BE49-F238E27FC236}">
                <a16:creationId xmlns:a16="http://schemas.microsoft.com/office/drawing/2014/main" id="{E62E74B0-8ED5-1B12-79D5-B68B47433BEB}"/>
              </a:ext>
            </a:extLst>
          </p:cNvPr>
          <p:cNvPicPr>
            <a:picLocks noChangeAspect="1"/>
          </p:cNvPicPr>
          <p:nvPr/>
        </p:nvPicPr>
        <p:blipFill>
          <a:blip r:embed="rId2"/>
          <a:stretch>
            <a:fillRect/>
          </a:stretch>
        </p:blipFill>
        <p:spPr>
          <a:xfrm>
            <a:off x="1185177" y="5208678"/>
            <a:ext cx="9821646" cy="571580"/>
          </a:xfrm>
          <a:prstGeom prst="rect">
            <a:avLst/>
          </a:prstGeom>
        </p:spPr>
      </p:pic>
    </p:spTree>
    <p:extLst>
      <p:ext uri="{BB962C8B-B14F-4D97-AF65-F5344CB8AC3E}">
        <p14:creationId xmlns:p14="http://schemas.microsoft.com/office/powerpoint/2010/main" val="2138019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1E4B9-44CA-2F93-EB84-80C72473F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88055-8F06-28A9-2EA9-1647475506A2}"/>
              </a:ext>
            </a:extLst>
          </p:cNvPr>
          <p:cNvSpPr>
            <a:spLocks noGrp="1"/>
          </p:cNvSpPr>
          <p:nvPr>
            <p:ph type="title"/>
          </p:nvPr>
        </p:nvSpPr>
        <p:spPr/>
        <p:txBody>
          <a:bodyPr/>
          <a:lstStyle/>
          <a:p>
            <a:r>
              <a:rPr lang="en-US" dirty="0"/>
              <a:t>Troubleshooting</a:t>
            </a:r>
            <a:endParaRPr lang="en-CA" dirty="0"/>
          </a:p>
        </p:txBody>
      </p:sp>
      <p:sp>
        <p:nvSpPr>
          <p:cNvPr id="3" name="Content Placeholder 2">
            <a:extLst>
              <a:ext uri="{FF2B5EF4-FFF2-40B4-BE49-F238E27FC236}">
                <a16:creationId xmlns:a16="http://schemas.microsoft.com/office/drawing/2014/main" id="{3EF5779B-7729-92B3-5626-79410025315E}"/>
              </a:ext>
            </a:extLst>
          </p:cNvPr>
          <p:cNvSpPr>
            <a:spLocks noGrp="1"/>
          </p:cNvSpPr>
          <p:nvPr>
            <p:ph idx="1"/>
          </p:nvPr>
        </p:nvSpPr>
        <p:spPr/>
        <p:txBody>
          <a:bodyPr>
            <a:normAutofit/>
          </a:bodyPr>
          <a:lstStyle/>
          <a:p>
            <a:r>
              <a:rPr lang="en-US" dirty="0"/>
              <a:t>In noisy recordings you may detect many “false positive” events. In such cases, the seizure like event duration can be changed, ANN threshold can be adjusted, or multiple quiet zones can be selected.</a:t>
            </a:r>
          </a:p>
          <a:p>
            <a:r>
              <a:rPr lang="en-US" dirty="0"/>
              <a:t>Seizure-like events that overlap across quiet zones have a high probability of being classified as seizure-like events, as their feature characteristics closely resemble those of seizures used to train the ANN.</a:t>
            </a:r>
            <a:endParaRPr lang="en-CA" dirty="0"/>
          </a:p>
        </p:txBody>
      </p:sp>
    </p:spTree>
    <p:extLst>
      <p:ext uri="{BB962C8B-B14F-4D97-AF65-F5344CB8AC3E}">
        <p14:creationId xmlns:p14="http://schemas.microsoft.com/office/powerpoint/2010/main" val="13110831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6BB57-A69C-5877-56C9-3FBBF304303E}"/>
              </a:ext>
            </a:extLst>
          </p:cNvPr>
          <p:cNvSpPr>
            <a:spLocks noGrp="1"/>
          </p:cNvSpPr>
          <p:nvPr>
            <p:ph type="title"/>
          </p:nvPr>
        </p:nvSpPr>
        <p:spPr/>
        <p:txBody>
          <a:bodyPr/>
          <a:lstStyle/>
          <a:p>
            <a:r>
              <a:rPr lang="en-US" dirty="0"/>
              <a:t>Contact us</a:t>
            </a:r>
            <a:endParaRPr lang="en-CA" dirty="0"/>
          </a:p>
        </p:txBody>
      </p:sp>
      <p:sp>
        <p:nvSpPr>
          <p:cNvPr id="3" name="Content Placeholder 2">
            <a:extLst>
              <a:ext uri="{FF2B5EF4-FFF2-40B4-BE49-F238E27FC236}">
                <a16:creationId xmlns:a16="http://schemas.microsoft.com/office/drawing/2014/main" id="{DD3C2C0F-E8E8-6DCA-39FA-E816D4569F76}"/>
              </a:ext>
            </a:extLst>
          </p:cNvPr>
          <p:cNvSpPr>
            <a:spLocks noGrp="1"/>
          </p:cNvSpPr>
          <p:nvPr>
            <p:ph idx="1"/>
          </p:nvPr>
        </p:nvSpPr>
        <p:spPr/>
        <p:txBody>
          <a:bodyPr>
            <a:normAutofit lnSpcReduction="10000"/>
          </a:bodyPr>
          <a:lstStyle/>
          <a:p>
            <a:pPr marL="0" indent="0">
              <a:buNone/>
            </a:pPr>
            <a:r>
              <a:rPr lang="en-US" b="1" dirty="0"/>
              <a:t>Correspondance to</a:t>
            </a:r>
          </a:p>
          <a:p>
            <a:pPr marL="0" indent="0">
              <a:buNone/>
            </a:pPr>
            <a:r>
              <a:rPr lang="en-US" dirty="0"/>
              <a:t>Alon Friedman, MD, PhD</a:t>
            </a:r>
          </a:p>
          <a:p>
            <a:pPr marL="0" indent="0">
              <a:buNone/>
            </a:pPr>
            <a:r>
              <a:rPr lang="en-US" dirty="0"/>
              <a:t>Professor of Neuroscience</a:t>
            </a:r>
          </a:p>
          <a:p>
            <a:pPr marL="0" indent="0">
              <a:buNone/>
            </a:pPr>
            <a:r>
              <a:rPr lang="en-US" dirty="0"/>
              <a:t>Dennis Chair in Epilepsy Research           </a:t>
            </a:r>
          </a:p>
          <a:p>
            <a:pPr marL="0" indent="0">
              <a:buNone/>
            </a:pPr>
            <a:r>
              <a:rPr lang="en-US" dirty="0"/>
              <a:t>Departments of Medical Neuroscience, Surgery and Pediatrics, </a:t>
            </a:r>
          </a:p>
          <a:p>
            <a:pPr marL="0" indent="0">
              <a:buNone/>
            </a:pPr>
            <a:r>
              <a:rPr lang="en-US" dirty="0"/>
              <a:t>Faculty of Medicine, Dalhousie University</a:t>
            </a:r>
          </a:p>
          <a:p>
            <a:pPr marL="0" indent="0">
              <a:buNone/>
            </a:pPr>
            <a:r>
              <a:rPr lang="en-US" dirty="0"/>
              <a:t>Halifax, NS</a:t>
            </a:r>
          </a:p>
          <a:p>
            <a:pPr marL="0" indent="0">
              <a:buNone/>
            </a:pPr>
            <a:r>
              <a:rPr lang="en-US" b="1" dirty="0"/>
              <a:t>Email</a:t>
            </a:r>
          </a:p>
          <a:p>
            <a:pPr marL="0" indent="0">
              <a:buNone/>
            </a:pPr>
            <a:r>
              <a:rPr lang="en-US" dirty="0"/>
              <a:t>Alon.Friedman@dal.ca</a:t>
            </a:r>
            <a:endParaRPr lang="en-CA" dirty="0"/>
          </a:p>
        </p:txBody>
      </p:sp>
      <p:pic>
        <p:nvPicPr>
          <p:cNvPr id="4" name="Picture 3" descr="The Dal Brand | Dalhousie University">
            <a:extLst>
              <a:ext uri="{FF2B5EF4-FFF2-40B4-BE49-F238E27FC236}">
                <a16:creationId xmlns:a16="http://schemas.microsoft.com/office/drawing/2014/main" id="{28A68A2D-8D7D-1BB9-26BE-1511AD4BC9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5364" y="1690688"/>
            <a:ext cx="3768436" cy="106379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899483A-D4C1-6A3B-765B-05B8B97328A1}"/>
              </a:ext>
            </a:extLst>
          </p:cNvPr>
          <p:cNvPicPr>
            <a:picLocks noChangeAspect="1"/>
          </p:cNvPicPr>
          <p:nvPr/>
        </p:nvPicPr>
        <p:blipFill>
          <a:blip r:embed="rId3"/>
          <a:stretch>
            <a:fillRect/>
          </a:stretch>
        </p:blipFill>
        <p:spPr>
          <a:xfrm>
            <a:off x="8259738" y="4800560"/>
            <a:ext cx="2419688" cy="571580"/>
          </a:xfrm>
          <a:prstGeom prst="rect">
            <a:avLst/>
          </a:prstGeom>
        </p:spPr>
      </p:pic>
      <p:sp>
        <p:nvSpPr>
          <p:cNvPr id="7" name="Content Placeholder 2">
            <a:extLst>
              <a:ext uri="{FF2B5EF4-FFF2-40B4-BE49-F238E27FC236}">
                <a16:creationId xmlns:a16="http://schemas.microsoft.com/office/drawing/2014/main" id="{EF0BF670-B20D-CA48-52B8-6A4E0F2056B7}"/>
              </a:ext>
            </a:extLst>
          </p:cNvPr>
          <p:cNvSpPr txBox="1">
            <a:spLocks/>
          </p:cNvSpPr>
          <p:nvPr/>
        </p:nvSpPr>
        <p:spPr>
          <a:xfrm>
            <a:off x="7740553" y="5413731"/>
            <a:ext cx="3458058" cy="89816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bbbscience.com</a:t>
            </a:r>
          </a:p>
        </p:txBody>
      </p:sp>
    </p:spTree>
    <p:extLst>
      <p:ext uri="{BB962C8B-B14F-4D97-AF65-F5344CB8AC3E}">
        <p14:creationId xmlns:p14="http://schemas.microsoft.com/office/powerpoint/2010/main" val="2037374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3063</TotalTime>
  <Words>854</Words>
  <Application>Microsoft Office PowerPoint</Application>
  <PresentationFormat>Widescreen</PresentationFormat>
  <Paragraphs>103</Paragraphs>
  <Slides>21</Slides>
  <Notes>0</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nVision</vt:lpstr>
      <vt:lpstr>Table of contents</vt:lpstr>
      <vt:lpstr>Installation</vt:lpstr>
      <vt:lpstr>Installation</vt:lpstr>
      <vt:lpstr>Main graphical user interface</vt:lpstr>
      <vt:lpstr>Main graphical user interface</vt:lpstr>
      <vt:lpstr>Input signal requirements</vt:lpstr>
      <vt:lpstr>Importing data</vt:lpstr>
      <vt:lpstr>Select feature folder</vt:lpstr>
      <vt:lpstr>Loading signal and calculating features</vt:lpstr>
      <vt:lpstr>Data viewer</vt:lpstr>
      <vt:lpstr>Data viewer</vt:lpstr>
      <vt:lpstr>Selecting a quiet zone</vt:lpstr>
      <vt:lpstr>The ANN score can help identify a quiet zone</vt:lpstr>
      <vt:lpstr>Detecting seizure like events</vt:lpstr>
      <vt:lpstr>Detecting seizure like events</vt:lpstr>
      <vt:lpstr>Results</vt:lpstr>
      <vt:lpstr>Seizure Detection Criterion</vt:lpstr>
      <vt:lpstr>Troubleshooting</vt:lpstr>
      <vt:lpstr>Troubleshooting</vt:lpstr>
      <vt:lpstr>Contact us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Hamza Imtiaz</dc:creator>
  <cp:lastModifiedBy>Hamza Imtiaz</cp:lastModifiedBy>
  <cp:revision>21</cp:revision>
  <dcterms:created xsi:type="dcterms:W3CDTF">2025-11-25T17:16:50Z</dcterms:created>
  <dcterms:modified xsi:type="dcterms:W3CDTF">2025-12-30T21:12:38Z</dcterms:modified>
</cp:coreProperties>
</file>